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elegraf Bold" charset="1" panose="00000800000000000000"/>
      <p:regular r:id="rId20"/>
    </p:embeddedFont>
    <p:embeddedFont>
      <p:font typeface="Open Sans 1" charset="1" panose="00000000000000000000"/>
      <p:regular r:id="rId21"/>
    </p:embeddedFont>
    <p:embeddedFont>
      <p:font typeface="Montaser Arabic Bold" charset="1" panose="00000800000000000000"/>
      <p:regular r:id="rId22"/>
    </p:embeddedFont>
    <p:embeddedFont>
      <p:font typeface="Open Sans 1 Bold Italics" charset="1" panose="00000000000000000000"/>
      <p:regular r:id="rId23"/>
    </p:embeddedFont>
    <p:embeddedFont>
      <p:font typeface="Montaser Arabic" charset="1" panose="00000500000000000000"/>
      <p:regular r:id="rId24"/>
    </p:embeddedFont>
    <p:embeddedFont>
      <p:font typeface="Open Sans 2" charset="1" panose="020B0606030504020204"/>
      <p:regular r:id="rId25"/>
    </p:embeddedFont>
    <p:embeddedFont>
      <p:font typeface="Open Sans 1 Bold" charset="1" panose="00000000000000000000"/>
      <p:regular r:id="rId26"/>
    </p:embeddedFont>
    <p:embeddedFont>
      <p:font typeface="TT Fors Bold" charset="1" panose="020B000303000102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1.png" Type="http://schemas.openxmlformats.org/officeDocument/2006/relationships/image"/><Relationship Id="rId12" Target="../media/image2.svg" Type="http://schemas.openxmlformats.org/officeDocument/2006/relationships/image"/><Relationship Id="rId2" Target="../media/image3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50000">
              <a:srgbClr val="16213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554727" y="3825240"/>
            <a:ext cx="17926050" cy="226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430"/>
              </a:lnSpc>
              <a:spcBef>
                <a:spcPct val="0"/>
              </a:spcBef>
            </a:pPr>
            <a:r>
              <a:rPr lang="en-US" b="true" sz="1245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TRAYECTOR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57875" y="2886075"/>
            <a:ext cx="6543675" cy="115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4"/>
              </a:lnSpc>
              <a:spcBef>
                <a:spcPct val="0"/>
              </a:spcBef>
            </a:pPr>
            <a:r>
              <a:rPr lang="en-US" sz="6846" spc="301" strike="noStrike" u="none">
                <a:solidFill>
                  <a:srgbClr val="4FC3F7"/>
                </a:solidFill>
                <a:latin typeface="Open Sans 1"/>
                <a:ea typeface="Open Sans 1"/>
                <a:cs typeface="Open Sans 1"/>
                <a:sym typeface="Open Sans 1"/>
              </a:rPr>
              <a:t>PRESENTAMOS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35536" y="6185535"/>
            <a:ext cx="12416927" cy="52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3059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denti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f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icam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s s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eña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les. 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Ant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ic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p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am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os riesg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omp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ñam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fu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tu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3059" strike="noStrike" u="none">
                <a:solidFill>
                  <a:srgbClr val="B0BEC5"/>
                </a:solidFill>
                <a:latin typeface="Open Sans 1"/>
                <a:ea typeface="Open Sans 1"/>
                <a:cs typeface="Open Sans 1"/>
                <a:sym typeface="Open Sans 1"/>
              </a:rPr>
              <a:t>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00450" y="3414077"/>
            <a:ext cx="17926050" cy="298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29"/>
              </a:lnSpc>
              <a:spcBef>
                <a:spcPct val="0"/>
              </a:spcBef>
            </a:pPr>
            <a:r>
              <a:rPr lang="en-US" b="true" sz="16449" strike="noStrike" u="none">
                <a:solidFill>
                  <a:srgbClr val="4FC3F7"/>
                </a:solidFill>
                <a:latin typeface="Telegraf Bold"/>
                <a:ea typeface="Telegraf Bold"/>
                <a:cs typeface="Telegraf Bold"/>
                <a:sym typeface="Telegraf Bold"/>
              </a:rPr>
              <a:t>IA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297169" y="-4106198"/>
            <a:ext cx="11209693" cy="11289751"/>
            <a:chOff x="0" y="0"/>
            <a:chExt cx="14946257" cy="15053001"/>
          </a:xfrm>
        </p:grpSpPr>
        <p:sp>
          <p:nvSpPr>
            <p:cNvPr name="Freeform 8" id="8"/>
            <p:cNvSpPr/>
            <p:nvPr/>
          </p:nvSpPr>
          <p:spPr>
            <a:xfrm flipH="false" flipV="false" rot="-1330490">
              <a:off x="2607276" y="1614683"/>
              <a:ext cx="10684464" cy="10860955"/>
            </a:xfrm>
            <a:custGeom>
              <a:avLst/>
              <a:gdLst/>
              <a:ahLst/>
              <a:cxnLst/>
              <a:rect r="r" b="b" t="t" l="l"/>
              <a:pathLst>
                <a:path h="10860955" w="10684464">
                  <a:moveTo>
                    <a:pt x="0" y="0"/>
                  </a:moveTo>
                  <a:lnTo>
                    <a:pt x="10684464" y="0"/>
                  </a:lnTo>
                  <a:lnTo>
                    <a:pt x="10684464" y="10860955"/>
                  </a:lnTo>
                  <a:lnTo>
                    <a:pt x="0" y="1086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896216"/>
              <a:ext cx="13891346" cy="14156786"/>
            </a:xfrm>
            <a:custGeom>
              <a:avLst/>
              <a:gdLst/>
              <a:ahLst/>
              <a:cxnLst/>
              <a:rect r="r" b="b" t="t" l="l"/>
              <a:pathLst>
                <a:path h="14156786" w="13891346">
                  <a:moveTo>
                    <a:pt x="0" y="0"/>
                  </a:moveTo>
                  <a:lnTo>
                    <a:pt x="13891346" y="0"/>
                  </a:lnTo>
                  <a:lnTo>
                    <a:pt x="13891346" y="14156785"/>
                  </a:lnTo>
                  <a:lnTo>
                    <a:pt x="0" y="1415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1999"/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5966" y="3710710"/>
            <a:ext cx="1563035" cy="1047234"/>
          </a:xfrm>
          <a:custGeom>
            <a:avLst/>
            <a:gdLst/>
            <a:ahLst/>
            <a:cxnLst/>
            <a:rect r="r" b="b" t="t" l="l"/>
            <a:pathLst>
              <a:path h="1047234" w="1563035">
                <a:moveTo>
                  <a:pt x="0" y="0"/>
                </a:moveTo>
                <a:lnTo>
                  <a:pt x="1563035" y="0"/>
                </a:lnTo>
                <a:lnTo>
                  <a:pt x="1563035" y="1047233"/>
                </a:lnTo>
                <a:lnTo>
                  <a:pt x="0" y="1047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0809" y="5609127"/>
            <a:ext cx="1073349" cy="1412302"/>
          </a:xfrm>
          <a:custGeom>
            <a:avLst/>
            <a:gdLst/>
            <a:ahLst/>
            <a:cxnLst/>
            <a:rect r="r" b="b" t="t" l="l"/>
            <a:pathLst>
              <a:path h="1412302" w="1073349">
                <a:moveTo>
                  <a:pt x="0" y="0"/>
                </a:moveTo>
                <a:lnTo>
                  <a:pt x="1073349" y="0"/>
                </a:lnTo>
                <a:lnTo>
                  <a:pt x="1073349" y="1412302"/>
                </a:lnTo>
                <a:lnTo>
                  <a:pt x="0" y="14123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547" y="7943760"/>
            <a:ext cx="1453873" cy="1606490"/>
          </a:xfrm>
          <a:custGeom>
            <a:avLst/>
            <a:gdLst/>
            <a:ahLst/>
            <a:cxnLst/>
            <a:rect r="r" b="b" t="t" l="l"/>
            <a:pathLst>
              <a:path h="1606490" w="1453873">
                <a:moveTo>
                  <a:pt x="0" y="0"/>
                </a:moveTo>
                <a:lnTo>
                  <a:pt x="1453873" y="0"/>
                </a:lnTo>
                <a:lnTo>
                  <a:pt x="1453873" y="1606490"/>
                </a:lnTo>
                <a:lnTo>
                  <a:pt x="0" y="16064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297169" y="-4106198"/>
            <a:ext cx="11209693" cy="11289751"/>
            <a:chOff x="0" y="0"/>
            <a:chExt cx="14946257" cy="15053001"/>
          </a:xfrm>
        </p:grpSpPr>
        <p:sp>
          <p:nvSpPr>
            <p:cNvPr name="Freeform 7" id="7"/>
            <p:cNvSpPr/>
            <p:nvPr/>
          </p:nvSpPr>
          <p:spPr>
            <a:xfrm flipH="false" flipV="false" rot="-1330490">
              <a:off x="2607276" y="1614683"/>
              <a:ext cx="10684464" cy="10860955"/>
            </a:xfrm>
            <a:custGeom>
              <a:avLst/>
              <a:gdLst/>
              <a:ahLst/>
              <a:cxnLst/>
              <a:rect r="r" b="b" t="t" l="l"/>
              <a:pathLst>
                <a:path h="10860955" w="10684464">
                  <a:moveTo>
                    <a:pt x="0" y="0"/>
                  </a:moveTo>
                  <a:lnTo>
                    <a:pt x="10684464" y="0"/>
                  </a:lnTo>
                  <a:lnTo>
                    <a:pt x="10684464" y="10860955"/>
                  </a:lnTo>
                  <a:lnTo>
                    <a:pt x="0" y="1086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896216"/>
              <a:ext cx="13891346" cy="14156786"/>
            </a:xfrm>
            <a:custGeom>
              <a:avLst/>
              <a:gdLst/>
              <a:ahLst/>
              <a:cxnLst/>
              <a:rect r="r" b="b" t="t" l="l"/>
              <a:pathLst>
                <a:path h="14156786" w="13891346">
                  <a:moveTo>
                    <a:pt x="0" y="0"/>
                  </a:moveTo>
                  <a:lnTo>
                    <a:pt x="13891346" y="0"/>
                  </a:lnTo>
                  <a:lnTo>
                    <a:pt x="13891346" y="14156785"/>
                  </a:lnTo>
                  <a:lnTo>
                    <a:pt x="0" y="1415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1999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552716" y="3700312"/>
            <a:ext cx="1759986" cy="1443188"/>
          </a:xfrm>
          <a:custGeom>
            <a:avLst/>
            <a:gdLst/>
            <a:ahLst/>
            <a:cxnLst/>
            <a:rect r="r" b="b" t="t" l="l"/>
            <a:pathLst>
              <a:path h="1443188" w="1759986">
                <a:moveTo>
                  <a:pt x="0" y="0"/>
                </a:moveTo>
                <a:lnTo>
                  <a:pt x="1759986" y="0"/>
                </a:lnTo>
                <a:lnTo>
                  <a:pt x="1759986" y="1443188"/>
                </a:lnTo>
                <a:lnTo>
                  <a:pt x="0" y="14431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52716" y="3700312"/>
            <a:ext cx="1759986" cy="1443188"/>
          </a:xfrm>
          <a:custGeom>
            <a:avLst/>
            <a:gdLst/>
            <a:ahLst/>
            <a:cxnLst/>
            <a:rect r="r" b="b" t="t" l="l"/>
            <a:pathLst>
              <a:path h="1443188" w="1759986">
                <a:moveTo>
                  <a:pt x="0" y="0"/>
                </a:moveTo>
                <a:lnTo>
                  <a:pt x="1759986" y="0"/>
                </a:lnTo>
                <a:lnTo>
                  <a:pt x="1759986" y="1443188"/>
                </a:lnTo>
                <a:lnTo>
                  <a:pt x="0" y="14431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11185" y="5546228"/>
            <a:ext cx="1643049" cy="1643049"/>
          </a:xfrm>
          <a:custGeom>
            <a:avLst/>
            <a:gdLst/>
            <a:ahLst/>
            <a:cxnLst/>
            <a:rect r="r" b="b" t="t" l="l"/>
            <a:pathLst>
              <a:path h="1643049" w="1643049">
                <a:moveTo>
                  <a:pt x="0" y="0"/>
                </a:moveTo>
                <a:lnTo>
                  <a:pt x="1643049" y="0"/>
                </a:lnTo>
                <a:lnTo>
                  <a:pt x="1643049" y="1643049"/>
                </a:lnTo>
                <a:lnTo>
                  <a:pt x="0" y="16430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52369" y="7884602"/>
            <a:ext cx="1360680" cy="1619857"/>
          </a:xfrm>
          <a:custGeom>
            <a:avLst/>
            <a:gdLst/>
            <a:ahLst/>
            <a:cxnLst/>
            <a:rect r="r" b="b" t="t" l="l"/>
            <a:pathLst>
              <a:path h="1619857" w="1360680">
                <a:moveTo>
                  <a:pt x="0" y="0"/>
                </a:moveTo>
                <a:lnTo>
                  <a:pt x="1360680" y="0"/>
                </a:lnTo>
                <a:lnTo>
                  <a:pt x="1360680" y="1619857"/>
                </a:lnTo>
                <a:lnTo>
                  <a:pt x="0" y="16198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95625" y="568959"/>
            <a:ext cx="12096750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E5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¿QUE VEREMOS EN ESTA PRESENTACIÓN?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63835" y="3839991"/>
            <a:ext cx="521309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FFFFFF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Equipo de Trabajo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63835" y="5973418"/>
            <a:ext cx="521309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FFFFFF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Fundamentación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3835" y="7981195"/>
            <a:ext cx="5213097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FFFFFF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Metodologías y Evidencias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87249" y="3787517"/>
            <a:ext cx="5213097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FFFFFF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Descripción de Proyecto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87249" y="5920943"/>
            <a:ext cx="521309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FFFFFF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Objetivos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87249" y="7928721"/>
            <a:ext cx="5213097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FFFFFF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Plan de Trabajo y Carta Gantt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72307" y="-2984988"/>
            <a:ext cx="8075295" cy="8229600"/>
          </a:xfrm>
          <a:custGeom>
            <a:avLst/>
            <a:gdLst/>
            <a:ahLst/>
            <a:cxnLst/>
            <a:rect r="r" b="b" t="t" l="l"/>
            <a:pathLst>
              <a:path h="8229600" w="8075295">
                <a:moveTo>
                  <a:pt x="0" y="0"/>
                </a:moveTo>
                <a:lnTo>
                  <a:pt x="8075295" y="0"/>
                </a:lnTo>
                <a:lnTo>
                  <a:pt x="80752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2900" y="2495062"/>
            <a:ext cx="8601075" cy="7601438"/>
            <a:chOff x="0" y="0"/>
            <a:chExt cx="11468100" cy="10135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68100" cy="10135250"/>
            </a:xfrm>
            <a:custGeom>
              <a:avLst/>
              <a:gdLst/>
              <a:ahLst/>
              <a:cxnLst/>
              <a:rect r="r" b="b" t="t" l="l"/>
              <a:pathLst>
                <a:path h="10135250" w="11468100">
                  <a:moveTo>
                    <a:pt x="560373" y="0"/>
                  </a:moveTo>
                  <a:lnTo>
                    <a:pt x="10907727" y="0"/>
                  </a:lnTo>
                  <a:cubicBezTo>
                    <a:pt x="11217212" y="0"/>
                    <a:pt x="11468100" y="453771"/>
                    <a:pt x="11468100" y="1013525"/>
                  </a:cubicBezTo>
                  <a:lnTo>
                    <a:pt x="11468100" y="9121725"/>
                  </a:lnTo>
                  <a:cubicBezTo>
                    <a:pt x="11468100" y="9681479"/>
                    <a:pt x="11217212" y="10135250"/>
                    <a:pt x="10907727" y="10135250"/>
                  </a:cubicBezTo>
                  <a:lnTo>
                    <a:pt x="560373" y="10135250"/>
                  </a:lnTo>
                  <a:cubicBezTo>
                    <a:pt x="250888" y="10135250"/>
                    <a:pt x="0" y="9681479"/>
                    <a:pt x="0" y="9121725"/>
                  </a:cubicBezTo>
                  <a:lnTo>
                    <a:pt x="0" y="1013525"/>
                  </a:lnTo>
                  <a:cubicBezTo>
                    <a:pt x="0" y="453771"/>
                    <a:pt x="250888" y="0"/>
                    <a:pt x="5603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A1A2E">
                    <a:alpha val="100000"/>
                  </a:srgbClr>
                </a:gs>
                <a:gs pos="100000">
                  <a:srgbClr val="16213E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1468100" cy="1016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53575" y="2495062"/>
            <a:ext cx="8601075" cy="7601438"/>
            <a:chOff x="0" y="0"/>
            <a:chExt cx="11468100" cy="10135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68100" cy="10135250"/>
            </a:xfrm>
            <a:custGeom>
              <a:avLst/>
              <a:gdLst/>
              <a:ahLst/>
              <a:cxnLst/>
              <a:rect r="r" b="b" t="t" l="l"/>
              <a:pathLst>
                <a:path h="10135250" w="11468100">
                  <a:moveTo>
                    <a:pt x="560373" y="0"/>
                  </a:moveTo>
                  <a:lnTo>
                    <a:pt x="10907727" y="0"/>
                  </a:lnTo>
                  <a:cubicBezTo>
                    <a:pt x="11217212" y="0"/>
                    <a:pt x="11468100" y="453771"/>
                    <a:pt x="11468100" y="1013525"/>
                  </a:cubicBezTo>
                  <a:lnTo>
                    <a:pt x="11468100" y="9121725"/>
                  </a:lnTo>
                  <a:cubicBezTo>
                    <a:pt x="11468100" y="9681479"/>
                    <a:pt x="11217212" y="10135250"/>
                    <a:pt x="10907727" y="10135250"/>
                  </a:cubicBezTo>
                  <a:lnTo>
                    <a:pt x="560373" y="10135250"/>
                  </a:lnTo>
                  <a:cubicBezTo>
                    <a:pt x="250888" y="10135250"/>
                    <a:pt x="0" y="9681479"/>
                    <a:pt x="0" y="9121725"/>
                  </a:cubicBezTo>
                  <a:lnTo>
                    <a:pt x="0" y="1013525"/>
                  </a:lnTo>
                  <a:cubicBezTo>
                    <a:pt x="0" y="453771"/>
                    <a:pt x="250888" y="0"/>
                    <a:pt x="5603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A1A2E">
                    <a:alpha val="43000"/>
                  </a:srgbClr>
                </a:gs>
                <a:gs pos="100000">
                  <a:srgbClr val="16213E">
                    <a:alpha val="43000"/>
                  </a:srgbClr>
                </a:gs>
              </a:gsLst>
              <a:lin ang="5400000"/>
            </a:gradFill>
            <a:ln w="9525" cap="sq">
              <a:solidFill>
                <a:srgbClr val="00E5FF">
                  <a:alpha val="42745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468100" cy="1016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53715" y="2765403"/>
            <a:ext cx="8071801" cy="543947"/>
            <a:chOff x="0" y="0"/>
            <a:chExt cx="10762402" cy="7252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1857" cy="725262"/>
            </a:xfrm>
            <a:custGeom>
              <a:avLst/>
              <a:gdLst/>
              <a:ahLst/>
              <a:cxnLst/>
              <a:rect r="r" b="b" t="t" l="l"/>
              <a:pathLst>
                <a:path h="725262" w="641857">
                  <a:moveTo>
                    <a:pt x="0" y="0"/>
                  </a:moveTo>
                  <a:lnTo>
                    <a:pt x="641857" y="0"/>
                  </a:lnTo>
                  <a:lnTo>
                    <a:pt x="641857" y="725262"/>
                  </a:lnTo>
                  <a:lnTo>
                    <a:pt x="0" y="725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855432" y="79845"/>
              <a:ext cx="9906970" cy="546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0"/>
                </a:lnSpc>
                <a:spcBef>
                  <a:spcPct val="0"/>
                </a:spcBef>
              </a:pPr>
              <a:r>
                <a:rPr lang="en-US" sz="2600" strike="noStrike" u="none">
                  <a:solidFill>
                    <a:srgbClr val="00E5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Área de Desempeño: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63490" y="2748156"/>
            <a:ext cx="8181245" cy="561195"/>
            <a:chOff x="0" y="0"/>
            <a:chExt cx="10908327" cy="7482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8259" cy="748259"/>
            </a:xfrm>
            <a:custGeom>
              <a:avLst/>
              <a:gdLst/>
              <a:ahLst/>
              <a:cxnLst/>
              <a:rect r="r" b="b" t="t" l="l"/>
              <a:pathLst>
                <a:path h="748259" w="748259">
                  <a:moveTo>
                    <a:pt x="0" y="0"/>
                  </a:moveTo>
                  <a:lnTo>
                    <a:pt x="748259" y="0"/>
                  </a:lnTo>
                  <a:lnTo>
                    <a:pt x="748259" y="748259"/>
                  </a:lnTo>
                  <a:lnTo>
                    <a:pt x="0" y="748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001357" y="91343"/>
              <a:ext cx="9906970" cy="546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E5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Competencias: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468160" y="3584889"/>
            <a:ext cx="499561" cy="367178"/>
          </a:xfrm>
          <a:custGeom>
            <a:avLst/>
            <a:gdLst/>
            <a:ahLst/>
            <a:cxnLst/>
            <a:rect r="r" b="b" t="t" l="l"/>
            <a:pathLst>
              <a:path h="367178" w="499561">
                <a:moveTo>
                  <a:pt x="0" y="0"/>
                </a:moveTo>
                <a:lnTo>
                  <a:pt x="499561" y="0"/>
                </a:lnTo>
                <a:lnTo>
                  <a:pt x="499561" y="367177"/>
                </a:lnTo>
                <a:lnTo>
                  <a:pt x="0" y="3671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468160" y="4674089"/>
            <a:ext cx="499561" cy="367178"/>
          </a:xfrm>
          <a:custGeom>
            <a:avLst/>
            <a:gdLst/>
            <a:ahLst/>
            <a:cxnLst/>
            <a:rect r="r" b="b" t="t" l="l"/>
            <a:pathLst>
              <a:path h="367178" w="499561">
                <a:moveTo>
                  <a:pt x="0" y="0"/>
                </a:moveTo>
                <a:lnTo>
                  <a:pt x="499561" y="0"/>
                </a:lnTo>
                <a:lnTo>
                  <a:pt x="499561" y="367178"/>
                </a:lnTo>
                <a:lnTo>
                  <a:pt x="0" y="3671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468160" y="5863949"/>
            <a:ext cx="499561" cy="367178"/>
          </a:xfrm>
          <a:custGeom>
            <a:avLst/>
            <a:gdLst/>
            <a:ahLst/>
            <a:cxnLst/>
            <a:rect r="r" b="b" t="t" l="l"/>
            <a:pathLst>
              <a:path h="367178" w="499561">
                <a:moveTo>
                  <a:pt x="0" y="0"/>
                </a:moveTo>
                <a:lnTo>
                  <a:pt x="499561" y="0"/>
                </a:lnTo>
                <a:lnTo>
                  <a:pt x="499561" y="367178"/>
                </a:lnTo>
                <a:lnTo>
                  <a:pt x="0" y="3671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68160" y="6973294"/>
            <a:ext cx="499561" cy="367178"/>
          </a:xfrm>
          <a:custGeom>
            <a:avLst/>
            <a:gdLst/>
            <a:ahLst/>
            <a:cxnLst/>
            <a:rect r="r" b="b" t="t" l="l"/>
            <a:pathLst>
              <a:path h="367178" w="499561">
                <a:moveTo>
                  <a:pt x="0" y="0"/>
                </a:moveTo>
                <a:lnTo>
                  <a:pt x="499561" y="0"/>
                </a:lnTo>
                <a:lnTo>
                  <a:pt x="499561" y="367178"/>
                </a:lnTo>
                <a:lnTo>
                  <a:pt x="0" y="3671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553715" y="3584889"/>
            <a:ext cx="330436" cy="440581"/>
          </a:xfrm>
          <a:custGeom>
            <a:avLst/>
            <a:gdLst/>
            <a:ahLst/>
            <a:cxnLst/>
            <a:rect r="r" b="b" t="t" l="l"/>
            <a:pathLst>
              <a:path h="440581" w="330436">
                <a:moveTo>
                  <a:pt x="330435" y="0"/>
                </a:moveTo>
                <a:lnTo>
                  <a:pt x="0" y="0"/>
                </a:lnTo>
                <a:lnTo>
                  <a:pt x="0" y="440580"/>
                </a:lnTo>
                <a:lnTo>
                  <a:pt x="330435" y="440580"/>
                </a:lnTo>
                <a:lnTo>
                  <a:pt x="33043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95850" y="6935194"/>
            <a:ext cx="737284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Toma de decisiones: Soporte analítico para intervenciones preventivas tempranas.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6710" y="3546789"/>
            <a:ext cx="7648806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Análisis d</a:t>
            </a: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 datos: Recopilación, limpieza y estudio de información académica.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5850" y="4635989"/>
            <a:ext cx="7610526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Machine L</a:t>
            </a: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earning: Desarrollo y validación de modelos predictivos de deserción.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6710" y="5825849"/>
            <a:ext cx="7610526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Gestión d</a:t>
            </a: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 información: Generación de perfiles de riesgo e indicadores clave.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2900" y="503702"/>
            <a:ext cx="1737326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799" strike="noStrike" u="none">
                <a:solidFill>
                  <a:srgbClr val="F6F6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Descripción del Proyecto APT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2900" y="1627652"/>
            <a:ext cx="5715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00E5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Proyecto: TrayectorIA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82021" y="3477698"/>
            <a:ext cx="7648806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Minería d</a:t>
            </a: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 datos aplicada a patrones de abandono estudiantil.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82021" y="4635989"/>
            <a:ext cx="764880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Implementación d</a:t>
            </a: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 modelos predictivos de alto rendimiento.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95929" y="5825849"/>
            <a:ext cx="7228926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Traducción d</a:t>
            </a: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 resultados analíticos en decisiones institucionales.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82021" y="6935194"/>
            <a:ext cx="7662714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Evaluación de desempeño mediante métricas de validación rigurosas.</a:t>
            </a:r>
          </a:p>
        </p:txBody>
      </p:sp>
      <p:sp>
        <p:nvSpPr>
          <p:cNvPr name="Freeform 30" id="30"/>
          <p:cNvSpPr/>
          <p:nvPr/>
        </p:nvSpPr>
        <p:spPr>
          <a:xfrm flipH="true" flipV="false" rot="0">
            <a:off x="553715" y="4771934"/>
            <a:ext cx="330436" cy="440581"/>
          </a:xfrm>
          <a:custGeom>
            <a:avLst/>
            <a:gdLst/>
            <a:ahLst/>
            <a:cxnLst/>
            <a:rect r="r" b="b" t="t" l="l"/>
            <a:pathLst>
              <a:path h="440581" w="330436">
                <a:moveTo>
                  <a:pt x="330435" y="0"/>
                </a:moveTo>
                <a:lnTo>
                  <a:pt x="0" y="0"/>
                </a:lnTo>
                <a:lnTo>
                  <a:pt x="0" y="440581"/>
                </a:lnTo>
                <a:lnTo>
                  <a:pt x="330435" y="440581"/>
                </a:lnTo>
                <a:lnTo>
                  <a:pt x="33043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553715" y="5955465"/>
            <a:ext cx="330436" cy="440581"/>
          </a:xfrm>
          <a:custGeom>
            <a:avLst/>
            <a:gdLst/>
            <a:ahLst/>
            <a:cxnLst/>
            <a:rect r="r" b="b" t="t" l="l"/>
            <a:pathLst>
              <a:path h="440581" w="330436">
                <a:moveTo>
                  <a:pt x="330435" y="0"/>
                </a:moveTo>
                <a:lnTo>
                  <a:pt x="0" y="0"/>
                </a:lnTo>
                <a:lnTo>
                  <a:pt x="0" y="440581"/>
                </a:lnTo>
                <a:lnTo>
                  <a:pt x="330435" y="440581"/>
                </a:lnTo>
                <a:lnTo>
                  <a:pt x="33043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0">
            <a:off x="553715" y="6973294"/>
            <a:ext cx="330436" cy="440581"/>
          </a:xfrm>
          <a:custGeom>
            <a:avLst/>
            <a:gdLst/>
            <a:ahLst/>
            <a:cxnLst/>
            <a:rect r="r" b="b" t="t" l="l"/>
            <a:pathLst>
              <a:path h="440581" w="330436">
                <a:moveTo>
                  <a:pt x="330435" y="0"/>
                </a:moveTo>
                <a:lnTo>
                  <a:pt x="0" y="0"/>
                </a:lnTo>
                <a:lnTo>
                  <a:pt x="0" y="440581"/>
                </a:lnTo>
                <a:lnTo>
                  <a:pt x="330435" y="440581"/>
                </a:lnTo>
                <a:lnTo>
                  <a:pt x="33043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1330490">
            <a:off x="13252626" y="-2895186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2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0490">
            <a:off x="13252626" y="-2895186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97169" y="-3434037"/>
            <a:ext cx="10418509" cy="10617589"/>
          </a:xfrm>
          <a:custGeom>
            <a:avLst/>
            <a:gdLst/>
            <a:ahLst/>
            <a:cxnLst/>
            <a:rect r="r" b="b" t="t" l="l"/>
            <a:pathLst>
              <a:path h="10617589" w="10418509">
                <a:moveTo>
                  <a:pt x="0" y="0"/>
                </a:moveTo>
                <a:lnTo>
                  <a:pt x="10418509" y="0"/>
                </a:lnTo>
                <a:lnTo>
                  <a:pt x="10418509" y="10617590"/>
                </a:lnTo>
                <a:lnTo>
                  <a:pt x="0" y="106175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91507" y="1220114"/>
            <a:ext cx="14525625" cy="97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73"/>
              </a:lnSpc>
              <a:spcBef>
                <a:spcPct val="0"/>
              </a:spcBef>
            </a:pPr>
            <a:r>
              <a:rPr lang="en-US" b="true" sz="54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Relevancia del Proyecto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43379" y="3088254"/>
            <a:ext cx="6648450" cy="439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</a:pPr>
            <a:r>
              <a:rPr lang="en-US" sz="4194">
                <a:solidFill>
                  <a:srgbClr val="F6F6FF"/>
                </a:solidFill>
                <a:latin typeface="Open Sans 1"/>
                <a:ea typeface="Open Sans 1"/>
                <a:cs typeface="Open Sans 1"/>
                <a:sym typeface="Open Sans 1"/>
              </a:rPr>
              <a:t>Problema</a:t>
            </a:r>
          </a:p>
          <a:p>
            <a:pPr algn="ctr">
              <a:lnSpc>
                <a:spcPts val="4192"/>
              </a:lnSpc>
            </a:pPr>
          </a:p>
          <a:p>
            <a:pPr algn="ctr" marL="0" indent="0" lvl="1">
              <a:lnSpc>
                <a:spcPts val="4192"/>
              </a:lnSpc>
              <a:spcBef>
                <a:spcPct val="0"/>
              </a:spcBef>
            </a:pPr>
            <a:r>
              <a:rPr lang="en-US" sz="2994" strike="noStrike" u="none">
                <a:solidFill>
                  <a:srgbClr val="F6F6FF"/>
                </a:solidFill>
                <a:latin typeface="Open Sans 1"/>
                <a:ea typeface="Open Sans 1"/>
                <a:cs typeface="Open Sans 1"/>
                <a:sym typeface="Open Sans 1"/>
              </a:rPr>
              <a:t>La deserción estudiantil representa una problemática para las instituciones de educación superior, Y los sistemas preventivos de deserción actualmente tienen mucho por mejorar.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57974" y="3078729"/>
            <a:ext cx="6648450" cy="586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2"/>
              </a:lnSpc>
            </a:pPr>
            <a:r>
              <a:rPr lang="en-US" sz="4094">
                <a:solidFill>
                  <a:srgbClr val="F6F6FF"/>
                </a:solidFill>
                <a:latin typeface="Open Sans 1"/>
                <a:ea typeface="Open Sans 1"/>
                <a:cs typeface="Open Sans 1"/>
                <a:sym typeface="Open Sans 1"/>
              </a:rPr>
              <a:t>Justificación</a:t>
            </a:r>
          </a:p>
          <a:p>
            <a:pPr algn="ctr">
              <a:lnSpc>
                <a:spcPts val="4052"/>
              </a:lnSpc>
            </a:pPr>
          </a:p>
          <a:p>
            <a:pPr algn="ctr" marL="0" indent="0" lvl="1">
              <a:lnSpc>
                <a:spcPts val="4052"/>
              </a:lnSpc>
              <a:spcBef>
                <a:spcPct val="0"/>
              </a:spcBef>
            </a:pPr>
            <a:r>
              <a:rPr lang="en-US" sz="2894">
                <a:solidFill>
                  <a:srgbClr val="F6F6FF"/>
                </a:solidFill>
                <a:latin typeface="Open Sans 1"/>
                <a:ea typeface="Open Sans 1"/>
                <a:cs typeface="Open Sans 1"/>
                <a:sym typeface="Open Sans 1"/>
              </a:rPr>
              <a:t>TRAYECTORIA busca utiliza</a:t>
            </a:r>
            <a:r>
              <a:rPr lang="en-US" sz="2894" strike="noStrike" u="none">
                <a:solidFill>
                  <a:srgbClr val="F6F6FF"/>
                </a:solidFill>
                <a:latin typeface="Open Sans 1"/>
                <a:ea typeface="Open Sans 1"/>
                <a:cs typeface="Open Sans 1"/>
                <a:sym typeface="Open Sans 1"/>
              </a:rPr>
              <a:t>r técnicas de minería de datos y aprendizaje automático para predecir el riesgo de deserción e identificar perfiles de estudiantes con características similares. Esto permitirá generar información que facilite la toma de deciciones respecto al tema.</a:t>
            </a:r>
          </a:p>
          <a:p>
            <a:pPr algn="ctr">
              <a:lnSpc>
                <a:spcPts val="40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97169" y="-4106198"/>
            <a:ext cx="11209693" cy="11289751"/>
            <a:chOff x="0" y="0"/>
            <a:chExt cx="14946257" cy="15053001"/>
          </a:xfrm>
        </p:grpSpPr>
        <p:sp>
          <p:nvSpPr>
            <p:cNvPr name="Freeform 3" id="3"/>
            <p:cNvSpPr/>
            <p:nvPr/>
          </p:nvSpPr>
          <p:spPr>
            <a:xfrm flipH="false" flipV="false" rot="-1330490">
              <a:off x="2607276" y="1614683"/>
              <a:ext cx="10684464" cy="10860955"/>
            </a:xfrm>
            <a:custGeom>
              <a:avLst/>
              <a:gdLst/>
              <a:ahLst/>
              <a:cxnLst/>
              <a:rect r="r" b="b" t="t" l="l"/>
              <a:pathLst>
                <a:path h="10860955" w="10684464">
                  <a:moveTo>
                    <a:pt x="0" y="0"/>
                  </a:moveTo>
                  <a:lnTo>
                    <a:pt x="10684464" y="0"/>
                  </a:lnTo>
                  <a:lnTo>
                    <a:pt x="10684464" y="10860955"/>
                  </a:lnTo>
                  <a:lnTo>
                    <a:pt x="0" y="1086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896216"/>
              <a:ext cx="13891346" cy="14156786"/>
            </a:xfrm>
            <a:custGeom>
              <a:avLst/>
              <a:gdLst/>
              <a:ahLst/>
              <a:cxnLst/>
              <a:rect r="r" b="b" t="t" l="l"/>
              <a:pathLst>
                <a:path h="14156786" w="13891346">
                  <a:moveTo>
                    <a:pt x="0" y="0"/>
                  </a:moveTo>
                  <a:lnTo>
                    <a:pt x="13891346" y="0"/>
                  </a:lnTo>
                  <a:lnTo>
                    <a:pt x="13891346" y="14156785"/>
                  </a:lnTo>
                  <a:lnTo>
                    <a:pt x="0" y="1415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1999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62560" y="2427927"/>
            <a:ext cx="11305069" cy="6926979"/>
          </a:xfrm>
          <a:custGeom>
            <a:avLst/>
            <a:gdLst/>
            <a:ahLst/>
            <a:cxnLst/>
            <a:rect r="r" b="b" t="t" l="l"/>
            <a:pathLst>
              <a:path h="6926979" w="11305069">
                <a:moveTo>
                  <a:pt x="0" y="0"/>
                </a:moveTo>
                <a:lnTo>
                  <a:pt x="11305069" y="0"/>
                </a:lnTo>
                <a:lnTo>
                  <a:pt x="11305069" y="6926978"/>
                </a:lnTo>
                <a:lnTo>
                  <a:pt x="0" y="6926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24300" y="346208"/>
            <a:ext cx="10448925" cy="127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27"/>
              </a:lnSpc>
              <a:spcBef>
                <a:spcPct val="0"/>
              </a:spcBef>
            </a:pPr>
            <a:r>
              <a:rPr lang="en-US" b="true" sz="7019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EVIDENCIAS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5068" y="2370777"/>
            <a:ext cx="5019675" cy="214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  <a:spcBef>
                <a:spcPct val="0"/>
              </a:spcBef>
            </a:pPr>
            <a:r>
              <a:rPr lang="en-US" b="true" sz="3106">
                <a:solidFill>
                  <a:srgbClr val="B0BEC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Segun SIES, en 2024, el 22,7% de los alumnos abandonaron su carrera en primer año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97169" y="-4106198"/>
            <a:ext cx="11209693" cy="11289751"/>
            <a:chOff x="0" y="0"/>
            <a:chExt cx="14946257" cy="15053001"/>
          </a:xfrm>
        </p:grpSpPr>
        <p:sp>
          <p:nvSpPr>
            <p:cNvPr name="Freeform 3" id="3"/>
            <p:cNvSpPr/>
            <p:nvPr/>
          </p:nvSpPr>
          <p:spPr>
            <a:xfrm flipH="false" flipV="false" rot="-1330490">
              <a:off x="2607276" y="1614683"/>
              <a:ext cx="10684464" cy="10860955"/>
            </a:xfrm>
            <a:custGeom>
              <a:avLst/>
              <a:gdLst/>
              <a:ahLst/>
              <a:cxnLst/>
              <a:rect r="r" b="b" t="t" l="l"/>
              <a:pathLst>
                <a:path h="10860955" w="10684464">
                  <a:moveTo>
                    <a:pt x="0" y="0"/>
                  </a:moveTo>
                  <a:lnTo>
                    <a:pt x="10684464" y="0"/>
                  </a:lnTo>
                  <a:lnTo>
                    <a:pt x="10684464" y="10860955"/>
                  </a:lnTo>
                  <a:lnTo>
                    <a:pt x="0" y="1086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896216"/>
              <a:ext cx="13891346" cy="14156786"/>
            </a:xfrm>
            <a:custGeom>
              <a:avLst/>
              <a:gdLst/>
              <a:ahLst/>
              <a:cxnLst/>
              <a:rect r="r" b="b" t="t" l="l"/>
              <a:pathLst>
                <a:path h="14156786" w="13891346">
                  <a:moveTo>
                    <a:pt x="0" y="0"/>
                  </a:moveTo>
                  <a:lnTo>
                    <a:pt x="13891346" y="0"/>
                  </a:lnTo>
                  <a:lnTo>
                    <a:pt x="13891346" y="14156785"/>
                  </a:lnTo>
                  <a:lnTo>
                    <a:pt x="0" y="1415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1999"/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33562" y="819150"/>
            <a:ext cx="14620875" cy="126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21"/>
              </a:lnSpc>
              <a:spcBef>
                <a:spcPct val="0"/>
              </a:spcBef>
            </a:pPr>
            <a:r>
              <a:rPr lang="en-US" b="true" sz="701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DESCRIPCIÓN Y PERTENENCIA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97963" y="3404345"/>
            <a:ext cx="7429500" cy="452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0623" indent="-310311" lvl="1">
              <a:lnSpc>
                <a:spcPts val="4024"/>
              </a:lnSpc>
              <a:spcBef>
                <a:spcPct val="0"/>
              </a:spcBef>
              <a:buFont typeface="Arial"/>
              <a:buChar char="•"/>
            </a:pPr>
            <a:r>
              <a:rPr lang="en-US" sz="287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El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p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yect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te p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ara 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nge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ería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Inf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á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ica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por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que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apl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ic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 m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nería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os,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estadís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ica y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a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ndizaj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aut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mátic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 a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u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na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prob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emát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real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ucac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ó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sup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or.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us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su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lta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os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pu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en a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yar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la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detecc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ón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emprana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 est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antes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sgo y l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om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isi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on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basada 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 d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at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os</a:t>
            </a:r>
            <a:r>
              <a:rPr lang="en-US" sz="2874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3223" y="3404345"/>
            <a:ext cx="6889935" cy="503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976" indent="-308488" lvl="1">
              <a:lnSpc>
                <a:spcPts val="4000"/>
              </a:lnSpc>
              <a:spcBef>
                <a:spcPct val="0"/>
              </a:spcBef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TRAYECTORIA busca desarr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lla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 u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pred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ivo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me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dian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té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cn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cas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min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ría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 y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apr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zaje a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átic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 p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id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ific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ar 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iant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esgo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 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eserc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ó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em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ás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,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permit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rá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reco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er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les y f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res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a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iad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ab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andon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, p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entando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res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ados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 form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v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al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ara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facilit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su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rpre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ación</a:t>
            </a:r>
            <a:r>
              <a:rPr lang="en-US" sz="2857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66135" y="3820651"/>
            <a:ext cx="4957339" cy="4224374"/>
            <a:chOff x="0" y="0"/>
            <a:chExt cx="1305637" cy="11125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5637" cy="1112592"/>
            </a:xfrm>
            <a:custGeom>
              <a:avLst/>
              <a:gdLst/>
              <a:ahLst/>
              <a:cxnLst/>
              <a:rect r="r" b="b" t="t" l="l"/>
              <a:pathLst>
                <a:path h="1112592" w="1305637">
                  <a:moveTo>
                    <a:pt x="70277" y="0"/>
                  </a:moveTo>
                  <a:lnTo>
                    <a:pt x="1235360" y="0"/>
                  </a:lnTo>
                  <a:cubicBezTo>
                    <a:pt x="1274173" y="0"/>
                    <a:pt x="1305637" y="31464"/>
                    <a:pt x="1305637" y="70277"/>
                  </a:cubicBezTo>
                  <a:lnTo>
                    <a:pt x="1305637" y="1042316"/>
                  </a:lnTo>
                  <a:cubicBezTo>
                    <a:pt x="1305637" y="1081128"/>
                    <a:pt x="1274173" y="1112592"/>
                    <a:pt x="1235360" y="1112592"/>
                  </a:cubicBezTo>
                  <a:lnTo>
                    <a:pt x="70277" y="1112592"/>
                  </a:lnTo>
                  <a:cubicBezTo>
                    <a:pt x="31464" y="1112592"/>
                    <a:pt x="0" y="1081128"/>
                    <a:pt x="0" y="1042316"/>
                  </a:cubicBezTo>
                  <a:lnTo>
                    <a:pt x="0" y="70277"/>
                  </a:lnTo>
                  <a:cubicBezTo>
                    <a:pt x="0" y="31464"/>
                    <a:pt x="31464" y="0"/>
                    <a:pt x="70277" y="0"/>
                  </a:cubicBezTo>
                  <a:close/>
                </a:path>
              </a:pathLst>
            </a:custGeom>
            <a:ln w="9525" cap="rnd">
              <a:solidFill>
                <a:srgbClr val="4FC3F7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5637" cy="1150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22755" y="-4106198"/>
            <a:ext cx="9184107" cy="9249698"/>
            <a:chOff x="0" y="0"/>
            <a:chExt cx="12245475" cy="12332931"/>
          </a:xfrm>
        </p:grpSpPr>
        <p:sp>
          <p:nvSpPr>
            <p:cNvPr name="Freeform 6" id="6"/>
            <p:cNvSpPr/>
            <p:nvPr/>
          </p:nvSpPr>
          <p:spPr>
            <a:xfrm flipH="false" flipV="false" rot="-1330490">
              <a:off x="2136142" y="1322911"/>
              <a:ext cx="8753787" cy="8898385"/>
            </a:xfrm>
            <a:custGeom>
              <a:avLst/>
              <a:gdLst/>
              <a:ahLst/>
              <a:cxnLst/>
              <a:rect r="r" b="b" t="t" l="l"/>
              <a:pathLst>
                <a:path h="8898385" w="8753787">
                  <a:moveTo>
                    <a:pt x="0" y="0"/>
                  </a:moveTo>
                  <a:lnTo>
                    <a:pt x="8753787" y="0"/>
                  </a:lnTo>
                  <a:lnTo>
                    <a:pt x="8753787" y="8898385"/>
                  </a:lnTo>
                  <a:lnTo>
                    <a:pt x="0" y="8898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734270"/>
              <a:ext cx="11381186" cy="11598661"/>
            </a:xfrm>
            <a:custGeom>
              <a:avLst/>
              <a:gdLst/>
              <a:ahLst/>
              <a:cxnLst/>
              <a:rect r="r" b="b" t="t" l="l"/>
              <a:pathLst>
                <a:path h="11598661" w="11381186">
                  <a:moveTo>
                    <a:pt x="0" y="0"/>
                  </a:moveTo>
                  <a:lnTo>
                    <a:pt x="11381186" y="0"/>
                  </a:lnTo>
                  <a:lnTo>
                    <a:pt x="11381186" y="11598661"/>
                  </a:lnTo>
                  <a:lnTo>
                    <a:pt x="0" y="11598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1999"/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66825" y="419100"/>
            <a:ext cx="15754350" cy="10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34"/>
              </a:lnSpc>
              <a:spcBef>
                <a:spcPct val="0"/>
              </a:spcBef>
            </a:pPr>
            <a:r>
              <a:rPr lang="en-US" b="true" sz="58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Integrantes Del Equipo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8420" y="3825171"/>
            <a:ext cx="4899958" cy="4224374"/>
            <a:chOff x="0" y="0"/>
            <a:chExt cx="1290524" cy="1112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0524" cy="1112592"/>
            </a:xfrm>
            <a:custGeom>
              <a:avLst/>
              <a:gdLst/>
              <a:ahLst/>
              <a:cxnLst/>
              <a:rect r="r" b="b" t="t" l="l"/>
              <a:pathLst>
                <a:path h="1112592" w="1290524">
                  <a:moveTo>
                    <a:pt x="71100" y="0"/>
                  </a:moveTo>
                  <a:lnTo>
                    <a:pt x="1219424" y="0"/>
                  </a:lnTo>
                  <a:cubicBezTo>
                    <a:pt x="1238281" y="0"/>
                    <a:pt x="1256365" y="7491"/>
                    <a:pt x="1269699" y="20825"/>
                  </a:cubicBezTo>
                  <a:cubicBezTo>
                    <a:pt x="1283033" y="34158"/>
                    <a:pt x="1290524" y="52243"/>
                    <a:pt x="1290524" y="71100"/>
                  </a:cubicBezTo>
                  <a:lnTo>
                    <a:pt x="1290524" y="1041493"/>
                  </a:lnTo>
                  <a:cubicBezTo>
                    <a:pt x="1290524" y="1060349"/>
                    <a:pt x="1283033" y="1078434"/>
                    <a:pt x="1269699" y="1091768"/>
                  </a:cubicBezTo>
                  <a:cubicBezTo>
                    <a:pt x="1256365" y="1105102"/>
                    <a:pt x="1238281" y="1112592"/>
                    <a:pt x="1219424" y="1112592"/>
                  </a:cubicBezTo>
                  <a:lnTo>
                    <a:pt x="71100" y="1112592"/>
                  </a:lnTo>
                  <a:cubicBezTo>
                    <a:pt x="52243" y="1112592"/>
                    <a:pt x="34158" y="1105102"/>
                    <a:pt x="20825" y="1091768"/>
                  </a:cubicBezTo>
                  <a:cubicBezTo>
                    <a:pt x="7491" y="1078434"/>
                    <a:pt x="0" y="1060349"/>
                    <a:pt x="0" y="1041493"/>
                  </a:cubicBezTo>
                  <a:lnTo>
                    <a:pt x="0" y="71100"/>
                  </a:lnTo>
                  <a:cubicBezTo>
                    <a:pt x="0" y="52243"/>
                    <a:pt x="7491" y="34158"/>
                    <a:pt x="20825" y="20825"/>
                  </a:cubicBezTo>
                  <a:cubicBezTo>
                    <a:pt x="34158" y="7491"/>
                    <a:pt x="52243" y="0"/>
                    <a:pt x="71100" y="0"/>
                  </a:cubicBezTo>
                  <a:close/>
                </a:path>
              </a:pathLst>
            </a:custGeom>
            <a:ln w="9525" cap="rnd">
              <a:solidFill>
                <a:srgbClr val="4FC3F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90524" cy="1150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6199" y="2958498"/>
            <a:ext cx="47244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4FC3F7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INTEGRANTE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26903" y="4543033"/>
            <a:ext cx="43910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Nombre: Denilxon Azua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4928" y="5364830"/>
            <a:ext cx="439102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Rol del Equipo: Líder Técnico / ML Engineer &amp; Backend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17316" y="2976278"/>
            <a:ext cx="541020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 strike="noStrike" u="none">
                <a:solidFill>
                  <a:srgbClr val="4FC3F7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INTEGRANTE 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74047" y="3820651"/>
            <a:ext cx="4896738" cy="4224374"/>
            <a:chOff x="0" y="0"/>
            <a:chExt cx="1289676" cy="1112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9676" cy="1112592"/>
            </a:xfrm>
            <a:custGeom>
              <a:avLst/>
              <a:gdLst/>
              <a:ahLst/>
              <a:cxnLst/>
              <a:rect r="r" b="b" t="t" l="l"/>
              <a:pathLst>
                <a:path h="1112592" w="1289676">
                  <a:moveTo>
                    <a:pt x="71147" y="0"/>
                  </a:moveTo>
                  <a:lnTo>
                    <a:pt x="1218529" y="0"/>
                  </a:lnTo>
                  <a:cubicBezTo>
                    <a:pt x="1257822" y="0"/>
                    <a:pt x="1289676" y="31853"/>
                    <a:pt x="1289676" y="71147"/>
                  </a:cubicBezTo>
                  <a:lnTo>
                    <a:pt x="1289676" y="1041446"/>
                  </a:lnTo>
                  <a:cubicBezTo>
                    <a:pt x="1289676" y="1080739"/>
                    <a:pt x="1257822" y="1112592"/>
                    <a:pt x="1218529" y="1112592"/>
                  </a:cubicBezTo>
                  <a:lnTo>
                    <a:pt x="71147" y="1112592"/>
                  </a:lnTo>
                  <a:cubicBezTo>
                    <a:pt x="31853" y="1112592"/>
                    <a:pt x="0" y="1080739"/>
                    <a:pt x="0" y="1041446"/>
                  </a:cubicBezTo>
                  <a:lnTo>
                    <a:pt x="0" y="71147"/>
                  </a:lnTo>
                  <a:cubicBezTo>
                    <a:pt x="0" y="31853"/>
                    <a:pt x="31853" y="0"/>
                    <a:pt x="71147" y="0"/>
                  </a:cubicBezTo>
                  <a:close/>
                </a:path>
              </a:pathLst>
            </a:custGeom>
            <a:ln w="9525" cap="rnd">
              <a:solidFill>
                <a:srgbClr val="4FC3F7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89676" cy="1150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515850" y="4543033"/>
            <a:ext cx="43910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Nombre: Juan Rebolledo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26903" y="5336890"/>
            <a:ext cx="4391025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Rol del Equipo: Frontend Developer / UX &amp; Data Visualization Specialist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92142" y="2976278"/>
            <a:ext cx="4505325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4FC3F7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INTEGRANTE 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92142" y="5364830"/>
            <a:ext cx="4391025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Rol del Equipo: Data Engineer / QA Continuo &amp; Project Documentation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4928" y="4543033"/>
            <a:ext cx="43910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Nombre: Benjamin Torres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30490">
            <a:off x="13252626" y="-2895186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29134" y="-3656380"/>
            <a:ext cx="10418509" cy="10617589"/>
          </a:xfrm>
          <a:custGeom>
            <a:avLst/>
            <a:gdLst/>
            <a:ahLst/>
            <a:cxnLst/>
            <a:rect r="r" b="b" t="t" l="l"/>
            <a:pathLst>
              <a:path h="10617589" w="10418509">
                <a:moveTo>
                  <a:pt x="0" y="0"/>
                </a:moveTo>
                <a:lnTo>
                  <a:pt x="10418509" y="0"/>
                </a:lnTo>
                <a:lnTo>
                  <a:pt x="10418509" y="10617589"/>
                </a:lnTo>
                <a:lnTo>
                  <a:pt x="0" y="10617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55387" y="2622895"/>
            <a:ext cx="4809359" cy="2520605"/>
            <a:chOff x="0" y="0"/>
            <a:chExt cx="6412479" cy="3360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409585" y="1103335"/>
              <a:ext cx="1584041" cy="1584041"/>
            </a:xfrm>
            <a:custGeom>
              <a:avLst/>
              <a:gdLst/>
              <a:ahLst/>
              <a:cxnLst/>
              <a:rect r="r" b="b" t="t" l="l"/>
              <a:pathLst>
                <a:path h="1584041" w="1584041">
                  <a:moveTo>
                    <a:pt x="0" y="0"/>
                  </a:moveTo>
                  <a:lnTo>
                    <a:pt x="1584042" y="0"/>
                  </a:lnTo>
                  <a:lnTo>
                    <a:pt x="1584042" y="1584041"/>
                  </a:lnTo>
                  <a:lnTo>
                    <a:pt x="0" y="1584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3990733" y="2769623"/>
              <a:ext cx="2421745" cy="591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Javascript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2340539" y="1165937"/>
              <a:ext cx="1354355" cy="1584041"/>
            </a:xfrm>
            <a:custGeom>
              <a:avLst/>
              <a:gdLst/>
              <a:ahLst/>
              <a:cxnLst/>
              <a:rect r="r" b="b" t="t" l="l"/>
              <a:pathLst>
                <a:path h="1584041" w="1354355">
                  <a:moveTo>
                    <a:pt x="0" y="0"/>
                  </a:moveTo>
                  <a:lnTo>
                    <a:pt x="1354356" y="0"/>
                  </a:lnTo>
                  <a:lnTo>
                    <a:pt x="1354356" y="1584041"/>
                  </a:lnTo>
                  <a:lnTo>
                    <a:pt x="0" y="1584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216728" y="2769623"/>
              <a:ext cx="1601978" cy="591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CSS3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237927" y="854116"/>
              <a:ext cx="1346062" cy="1895862"/>
            </a:xfrm>
            <a:custGeom>
              <a:avLst/>
              <a:gdLst/>
              <a:ahLst/>
              <a:cxnLst/>
              <a:rect r="r" b="b" t="t" l="l"/>
              <a:pathLst>
                <a:path h="1895862" w="1346062">
                  <a:moveTo>
                    <a:pt x="0" y="0"/>
                  </a:moveTo>
                  <a:lnTo>
                    <a:pt x="1346062" y="0"/>
                  </a:lnTo>
                  <a:lnTo>
                    <a:pt x="1346062" y="1895862"/>
                  </a:lnTo>
                  <a:lnTo>
                    <a:pt x="0" y="1895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2769623"/>
              <a:ext cx="1821916" cy="591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HTML5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832748" y="-57150"/>
              <a:ext cx="2369939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FrontEnd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32833" y="2701637"/>
            <a:ext cx="3526036" cy="2465281"/>
            <a:chOff x="0" y="0"/>
            <a:chExt cx="4701381" cy="3287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683281" y="927881"/>
              <a:ext cx="1770658" cy="1770658"/>
            </a:xfrm>
            <a:custGeom>
              <a:avLst/>
              <a:gdLst/>
              <a:ahLst/>
              <a:cxnLst/>
              <a:rect r="r" b="b" t="t" l="l"/>
              <a:pathLst>
                <a:path h="1770658" w="1770658">
                  <a:moveTo>
                    <a:pt x="0" y="0"/>
                  </a:moveTo>
                  <a:lnTo>
                    <a:pt x="1770658" y="0"/>
                  </a:lnTo>
                  <a:lnTo>
                    <a:pt x="1770658" y="1770658"/>
                  </a:lnTo>
                  <a:lnTo>
                    <a:pt x="0" y="1770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439591" y="2695857"/>
              <a:ext cx="2261791" cy="591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FastAPI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304934" y="927881"/>
              <a:ext cx="1770658" cy="1770658"/>
            </a:xfrm>
            <a:custGeom>
              <a:avLst/>
              <a:gdLst/>
              <a:ahLst/>
              <a:cxnLst/>
              <a:rect r="r" b="b" t="t" l="l"/>
              <a:pathLst>
                <a:path h="1770658" w="1770658">
                  <a:moveTo>
                    <a:pt x="0" y="0"/>
                  </a:moveTo>
                  <a:lnTo>
                    <a:pt x="1770658" y="0"/>
                  </a:lnTo>
                  <a:lnTo>
                    <a:pt x="1770658" y="1770658"/>
                  </a:lnTo>
                  <a:lnTo>
                    <a:pt x="0" y="1770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2695857"/>
              <a:ext cx="2261791" cy="591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Python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308695" y="-57150"/>
              <a:ext cx="2261791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BackEnd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11112" y="5979891"/>
            <a:ext cx="4369477" cy="2658501"/>
            <a:chOff x="0" y="0"/>
            <a:chExt cx="5825969" cy="35446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51194" y="997716"/>
              <a:ext cx="1915875" cy="1915875"/>
            </a:xfrm>
            <a:custGeom>
              <a:avLst/>
              <a:gdLst/>
              <a:ahLst/>
              <a:cxnLst/>
              <a:rect r="r" b="b" t="t" l="l"/>
              <a:pathLst>
                <a:path h="1915875" w="1915875">
                  <a:moveTo>
                    <a:pt x="0" y="0"/>
                  </a:moveTo>
                  <a:lnTo>
                    <a:pt x="1915875" y="0"/>
                  </a:lnTo>
                  <a:lnTo>
                    <a:pt x="1915875" y="1915875"/>
                  </a:lnTo>
                  <a:lnTo>
                    <a:pt x="0" y="1915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651194" y="2925832"/>
              <a:ext cx="1915875" cy="618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Pandas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3377184" y="997716"/>
              <a:ext cx="1915875" cy="1915875"/>
            </a:xfrm>
            <a:custGeom>
              <a:avLst/>
              <a:gdLst/>
              <a:ahLst/>
              <a:cxnLst/>
              <a:rect r="r" b="b" t="t" l="l"/>
              <a:pathLst>
                <a:path h="1915875" w="1915875">
                  <a:moveTo>
                    <a:pt x="0" y="0"/>
                  </a:moveTo>
                  <a:lnTo>
                    <a:pt x="1915874" y="0"/>
                  </a:lnTo>
                  <a:lnTo>
                    <a:pt x="1915874" y="1915875"/>
                  </a:lnTo>
                  <a:lnTo>
                    <a:pt x="0" y="1915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3377184" y="2925832"/>
              <a:ext cx="1915875" cy="618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NumPy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-47625"/>
              <a:ext cx="5825969" cy="618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Procesamiento de Datos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33936" y="5883834"/>
            <a:ext cx="4369477" cy="3004451"/>
            <a:chOff x="0" y="0"/>
            <a:chExt cx="5825969" cy="4005935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47625"/>
              <a:ext cx="5825969" cy="1285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Modelo Machine Learning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1385960" y="762064"/>
              <a:ext cx="2795947" cy="2795947"/>
            </a:xfrm>
            <a:custGeom>
              <a:avLst/>
              <a:gdLst/>
              <a:ahLst/>
              <a:cxnLst/>
              <a:rect r="r" b="b" t="t" l="l"/>
              <a:pathLst>
                <a:path h="2795947" w="2795947">
                  <a:moveTo>
                    <a:pt x="0" y="0"/>
                  </a:moveTo>
                  <a:lnTo>
                    <a:pt x="2795947" y="0"/>
                  </a:lnTo>
                  <a:lnTo>
                    <a:pt x="2795947" y="2795947"/>
                  </a:lnTo>
                  <a:lnTo>
                    <a:pt x="0" y="279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415201" y="3387099"/>
              <a:ext cx="2995567" cy="618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Scikit Learn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48505" y="5883834"/>
            <a:ext cx="4377491" cy="2850615"/>
            <a:chOff x="0" y="0"/>
            <a:chExt cx="5836654" cy="3800820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47625"/>
              <a:ext cx="5825969" cy="618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Visualización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1689897" y="762064"/>
              <a:ext cx="2467546" cy="2467546"/>
            </a:xfrm>
            <a:custGeom>
              <a:avLst/>
              <a:gdLst/>
              <a:ahLst/>
              <a:cxnLst/>
              <a:rect r="r" b="b" t="t" l="l"/>
              <a:pathLst>
                <a:path h="2467546" w="2467546">
                  <a:moveTo>
                    <a:pt x="0" y="0"/>
                  </a:moveTo>
                  <a:lnTo>
                    <a:pt x="2467545" y="0"/>
                  </a:lnTo>
                  <a:lnTo>
                    <a:pt x="2467545" y="2467545"/>
                  </a:lnTo>
                  <a:lnTo>
                    <a:pt x="0" y="246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0685" y="3181984"/>
              <a:ext cx="5825969" cy="618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5"/>
                </a:lnSpc>
              </a:pPr>
              <a:r>
                <a:rPr lang="en-US" sz="281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Chart.js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40118" y="2725055"/>
            <a:ext cx="2794263" cy="2418445"/>
            <a:chOff x="0" y="0"/>
            <a:chExt cx="3725684" cy="3224594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484898" y="2633409"/>
              <a:ext cx="2755888" cy="591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SQL Server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-57150"/>
              <a:ext cx="3725684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Base de Datos</a:t>
              </a:r>
            </a:p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1015829" y="796508"/>
              <a:ext cx="1694026" cy="1694026"/>
            </a:xfrm>
            <a:custGeom>
              <a:avLst/>
              <a:gdLst/>
              <a:ahLst/>
              <a:cxnLst/>
              <a:rect r="r" b="b" t="t" l="l"/>
              <a:pathLst>
                <a:path h="1694026" w="1694026">
                  <a:moveTo>
                    <a:pt x="0" y="0"/>
                  </a:moveTo>
                  <a:lnTo>
                    <a:pt x="1694026" y="0"/>
                  </a:lnTo>
                  <a:lnTo>
                    <a:pt x="1694026" y="1694026"/>
                  </a:lnTo>
                  <a:lnTo>
                    <a:pt x="0" y="1694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3158807" y="857250"/>
            <a:ext cx="11982450" cy="99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30"/>
              </a:lnSpc>
              <a:spcBef>
                <a:spcPct val="0"/>
              </a:spcBef>
            </a:pPr>
            <a:r>
              <a:rPr lang="en-US" b="true" sz="545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Stack Tecnologico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3803" y="571500"/>
            <a:ext cx="561195" cy="561195"/>
          </a:xfrm>
          <a:custGeom>
            <a:avLst/>
            <a:gdLst/>
            <a:ahLst/>
            <a:cxnLst/>
            <a:rect r="r" b="b" t="t" l="l"/>
            <a:pathLst>
              <a:path h="561195" w="561195">
                <a:moveTo>
                  <a:pt x="0" y="0"/>
                </a:moveTo>
                <a:lnTo>
                  <a:pt x="561194" y="0"/>
                </a:lnTo>
                <a:lnTo>
                  <a:pt x="561194" y="561195"/>
                </a:lnTo>
                <a:lnTo>
                  <a:pt x="0" y="561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3500" y="457762"/>
            <a:ext cx="1143000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Objetivos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09600" y="1590675"/>
            <a:ext cx="16897350" cy="1143000"/>
            <a:chOff x="0" y="0"/>
            <a:chExt cx="22529800" cy="152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2529800" cy="1524000"/>
              <a:chOff x="0" y="0"/>
              <a:chExt cx="22529800" cy="152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25298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22529800">
                    <a:moveTo>
                      <a:pt x="153612" y="0"/>
                    </a:moveTo>
                    <a:lnTo>
                      <a:pt x="22376188" y="0"/>
                    </a:lnTo>
                    <a:cubicBezTo>
                      <a:pt x="22461026" y="0"/>
                      <a:pt x="22529800" y="68232"/>
                      <a:pt x="22529800" y="152400"/>
                    </a:cubicBezTo>
                    <a:lnTo>
                      <a:pt x="22529800" y="1371600"/>
                    </a:lnTo>
                    <a:cubicBezTo>
                      <a:pt x="22529800" y="1455768"/>
                      <a:pt x="22461026" y="1524000"/>
                      <a:pt x="22376188" y="1524000"/>
                    </a:cubicBezTo>
                    <a:lnTo>
                      <a:pt x="153612" y="1524000"/>
                    </a:lnTo>
                    <a:cubicBezTo>
                      <a:pt x="68775" y="1524000"/>
                      <a:pt x="0" y="1455768"/>
                      <a:pt x="0" y="1371600"/>
                    </a:cubicBezTo>
                    <a:lnTo>
                      <a:pt x="0" y="152400"/>
                    </a:lnTo>
                    <a:cubicBezTo>
                      <a:pt x="0" y="68232"/>
                      <a:pt x="68775" y="0"/>
                      <a:pt x="153612" y="0"/>
                    </a:cubicBezTo>
                    <a:close/>
                  </a:path>
                </a:pathLst>
              </a:custGeom>
              <a:solidFill>
                <a:srgbClr val="1E2A45"/>
              </a:solidFill>
              <a:ln w="9525" cap="sq">
                <a:solidFill>
                  <a:srgbClr val="00D4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25298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56020" y="123825"/>
              <a:ext cx="3840307" cy="342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b="true" sz="1599">
                  <a:solidFill>
                    <a:srgbClr val="00D4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Objetivo General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56020" y="517525"/>
              <a:ext cx="22017759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Desarrollar un modelo predictivo basado en técnicas de minería de datos y aprendizaje automático que permita identificar anticipadamente a estudiantes con riesgo de deserción.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9600" y="3114675"/>
            <a:ext cx="5429250" cy="2581275"/>
            <a:chOff x="0" y="0"/>
            <a:chExt cx="7239000" cy="3441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39000" cy="3441700"/>
            </a:xfrm>
            <a:custGeom>
              <a:avLst/>
              <a:gdLst/>
              <a:ahLst/>
              <a:cxnLst/>
              <a:rect r="r" b="b" t="t" l="l"/>
              <a:pathLst>
                <a:path h="3441700" w="7239000">
                  <a:moveTo>
                    <a:pt x="254000" y="0"/>
                  </a:moveTo>
                  <a:lnTo>
                    <a:pt x="6985000" y="0"/>
                  </a:lnTo>
                  <a:cubicBezTo>
                    <a:pt x="7125281" y="0"/>
                    <a:pt x="7239000" y="154090"/>
                    <a:pt x="7239000" y="344170"/>
                  </a:cubicBezTo>
                  <a:lnTo>
                    <a:pt x="7239000" y="3097530"/>
                  </a:lnTo>
                  <a:cubicBezTo>
                    <a:pt x="7239000" y="3287610"/>
                    <a:pt x="7125281" y="3441700"/>
                    <a:pt x="6985000" y="3441700"/>
                  </a:cubicBezTo>
                  <a:lnTo>
                    <a:pt x="254000" y="3441700"/>
                  </a:lnTo>
                  <a:cubicBezTo>
                    <a:pt x="113720" y="3441700"/>
                    <a:pt x="0" y="3287610"/>
                    <a:pt x="0" y="3097530"/>
                  </a:cubicBezTo>
                  <a:lnTo>
                    <a:pt x="0" y="344170"/>
                  </a:lnTo>
                  <a:cubicBezTo>
                    <a:pt x="0" y="15409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E2A45"/>
            </a:solidFill>
            <a:ln w="9525" cap="sq">
              <a:solidFill>
                <a:srgbClr val="2A3A5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239000" cy="3479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62000" y="3875087"/>
            <a:ext cx="512445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Preparar un conjunto de datos robusto para su posterior análisis.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3969" y="3234167"/>
            <a:ext cx="37102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E5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</a:t>
            </a:r>
            <a:r>
              <a:rPr lang="en-US" sz="2700">
                <a:solidFill>
                  <a:srgbClr val="00E5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29375" y="3114675"/>
            <a:ext cx="5429250" cy="2581275"/>
            <a:chOff x="0" y="0"/>
            <a:chExt cx="7239000" cy="3441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39000" cy="3441700"/>
            </a:xfrm>
            <a:custGeom>
              <a:avLst/>
              <a:gdLst/>
              <a:ahLst/>
              <a:cxnLst/>
              <a:rect r="r" b="b" t="t" l="l"/>
              <a:pathLst>
                <a:path h="3441700" w="7239000">
                  <a:moveTo>
                    <a:pt x="254000" y="0"/>
                  </a:moveTo>
                  <a:lnTo>
                    <a:pt x="6985000" y="0"/>
                  </a:lnTo>
                  <a:cubicBezTo>
                    <a:pt x="7125281" y="0"/>
                    <a:pt x="7239000" y="154090"/>
                    <a:pt x="7239000" y="344170"/>
                  </a:cubicBezTo>
                  <a:lnTo>
                    <a:pt x="7239000" y="3097530"/>
                  </a:lnTo>
                  <a:cubicBezTo>
                    <a:pt x="7239000" y="3287610"/>
                    <a:pt x="7125281" y="3441700"/>
                    <a:pt x="6985000" y="3441700"/>
                  </a:cubicBezTo>
                  <a:lnTo>
                    <a:pt x="254000" y="3441700"/>
                  </a:lnTo>
                  <a:cubicBezTo>
                    <a:pt x="113720" y="3441700"/>
                    <a:pt x="0" y="3287610"/>
                    <a:pt x="0" y="3097530"/>
                  </a:cubicBezTo>
                  <a:lnTo>
                    <a:pt x="0" y="344170"/>
                  </a:lnTo>
                  <a:cubicBezTo>
                    <a:pt x="0" y="15409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E2A45"/>
            </a:solidFill>
            <a:ln w="9525" cap="sq">
              <a:solidFill>
                <a:srgbClr val="2A3A5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239000" cy="3479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572250" y="3875087"/>
            <a:ext cx="512445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Realizar un análisis exploratorio para descubrir patrones iniciales en los datos.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72250" y="3231324"/>
            <a:ext cx="4430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E5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77700" y="3114675"/>
            <a:ext cx="5429250" cy="2581275"/>
            <a:chOff x="0" y="0"/>
            <a:chExt cx="7239000" cy="3441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39000" cy="3441700"/>
            </a:xfrm>
            <a:custGeom>
              <a:avLst/>
              <a:gdLst/>
              <a:ahLst/>
              <a:cxnLst/>
              <a:rect r="r" b="b" t="t" l="l"/>
              <a:pathLst>
                <a:path h="3441700" w="7239000">
                  <a:moveTo>
                    <a:pt x="254000" y="0"/>
                  </a:moveTo>
                  <a:lnTo>
                    <a:pt x="6985000" y="0"/>
                  </a:lnTo>
                  <a:cubicBezTo>
                    <a:pt x="7125281" y="0"/>
                    <a:pt x="7239000" y="154090"/>
                    <a:pt x="7239000" y="344170"/>
                  </a:cubicBezTo>
                  <a:lnTo>
                    <a:pt x="7239000" y="3097530"/>
                  </a:lnTo>
                  <a:cubicBezTo>
                    <a:pt x="7239000" y="3287610"/>
                    <a:pt x="7125281" y="3441700"/>
                    <a:pt x="6985000" y="3441700"/>
                  </a:cubicBezTo>
                  <a:lnTo>
                    <a:pt x="254000" y="3441700"/>
                  </a:lnTo>
                  <a:cubicBezTo>
                    <a:pt x="113720" y="3441700"/>
                    <a:pt x="0" y="3287610"/>
                    <a:pt x="0" y="3097530"/>
                  </a:cubicBezTo>
                  <a:lnTo>
                    <a:pt x="0" y="344170"/>
                  </a:lnTo>
                  <a:cubicBezTo>
                    <a:pt x="0" y="15409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E2A45"/>
            </a:solidFill>
            <a:ln w="9525" cap="sq">
              <a:solidFill>
                <a:srgbClr val="2A3A5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239000" cy="3479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30100" y="3281792"/>
            <a:ext cx="5124450" cy="1464516"/>
            <a:chOff x="0" y="0"/>
            <a:chExt cx="6832600" cy="1952688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800586"/>
              <a:ext cx="6832600" cy="1152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9"/>
                </a:lnSpc>
              </a:pPr>
              <a:r>
                <a:rPr lang="en-US" sz="169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Evaluar diversos modelos de aprendizaje automatico para identificar el de mejor rendimiento.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47625"/>
              <a:ext cx="592534" cy="591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E5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09600" y="6115050"/>
            <a:ext cx="5429250" cy="2639791"/>
            <a:chOff x="0" y="0"/>
            <a:chExt cx="7239000" cy="35197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39000" cy="3519721"/>
            </a:xfrm>
            <a:custGeom>
              <a:avLst/>
              <a:gdLst/>
              <a:ahLst/>
              <a:cxnLst/>
              <a:rect r="r" b="b" t="t" l="l"/>
              <a:pathLst>
                <a:path h="3519721" w="7239000">
                  <a:moveTo>
                    <a:pt x="254000" y="0"/>
                  </a:moveTo>
                  <a:lnTo>
                    <a:pt x="6985000" y="0"/>
                  </a:lnTo>
                  <a:cubicBezTo>
                    <a:pt x="7125281" y="0"/>
                    <a:pt x="7239000" y="157583"/>
                    <a:pt x="7239000" y="351972"/>
                  </a:cubicBezTo>
                  <a:lnTo>
                    <a:pt x="7239000" y="3167749"/>
                  </a:lnTo>
                  <a:cubicBezTo>
                    <a:pt x="7239000" y="3362138"/>
                    <a:pt x="7125281" y="3519721"/>
                    <a:pt x="6985000" y="3519721"/>
                  </a:cubicBezTo>
                  <a:lnTo>
                    <a:pt x="254000" y="3519721"/>
                  </a:lnTo>
                  <a:cubicBezTo>
                    <a:pt x="113720" y="3519721"/>
                    <a:pt x="0" y="3362138"/>
                    <a:pt x="0" y="3167749"/>
                  </a:cubicBezTo>
                  <a:lnTo>
                    <a:pt x="0" y="351972"/>
                  </a:lnTo>
                  <a:cubicBezTo>
                    <a:pt x="0" y="157583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E2A45"/>
            </a:solidFill>
            <a:ln w="9525" cap="sq">
              <a:solidFill>
                <a:srgbClr val="2A3A5C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239000" cy="355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62000" y="6754495"/>
            <a:ext cx="512445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Identificar y clasificar los perfiles claves de estudiantes con mayor riesgo de deserción.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0100" y="6219825"/>
            <a:ext cx="44722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E5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19850" y="6115050"/>
            <a:ext cx="5429250" cy="2639791"/>
            <a:chOff x="0" y="0"/>
            <a:chExt cx="7239000" cy="35197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39000" cy="3519721"/>
            </a:xfrm>
            <a:custGeom>
              <a:avLst/>
              <a:gdLst/>
              <a:ahLst/>
              <a:cxnLst/>
              <a:rect r="r" b="b" t="t" l="l"/>
              <a:pathLst>
                <a:path h="3519721" w="7239000">
                  <a:moveTo>
                    <a:pt x="254000" y="0"/>
                  </a:moveTo>
                  <a:lnTo>
                    <a:pt x="6985000" y="0"/>
                  </a:lnTo>
                  <a:cubicBezTo>
                    <a:pt x="7125281" y="0"/>
                    <a:pt x="7239000" y="157583"/>
                    <a:pt x="7239000" y="351972"/>
                  </a:cubicBezTo>
                  <a:lnTo>
                    <a:pt x="7239000" y="3167749"/>
                  </a:lnTo>
                  <a:cubicBezTo>
                    <a:pt x="7239000" y="3362138"/>
                    <a:pt x="7125281" y="3519721"/>
                    <a:pt x="6985000" y="3519721"/>
                  </a:cubicBezTo>
                  <a:lnTo>
                    <a:pt x="254000" y="3519721"/>
                  </a:lnTo>
                  <a:cubicBezTo>
                    <a:pt x="113720" y="3519721"/>
                    <a:pt x="0" y="3362138"/>
                    <a:pt x="0" y="3167749"/>
                  </a:cubicBezTo>
                  <a:lnTo>
                    <a:pt x="0" y="351972"/>
                  </a:lnTo>
                  <a:cubicBezTo>
                    <a:pt x="0" y="157583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E2A45"/>
            </a:solidFill>
            <a:ln w="9525" cap="sq">
              <a:solidFill>
                <a:srgbClr val="2A3A5C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239000" cy="355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572250" y="6754495"/>
            <a:ext cx="512445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Validar y medir rigurosamente los resultados predictivos obtenidos por el modelo.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72250" y="6219825"/>
            <a:ext cx="45437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E5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05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077700" y="6115050"/>
            <a:ext cx="5429250" cy="2639791"/>
            <a:chOff x="0" y="0"/>
            <a:chExt cx="7239000" cy="35197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39000" cy="3519721"/>
            </a:xfrm>
            <a:custGeom>
              <a:avLst/>
              <a:gdLst/>
              <a:ahLst/>
              <a:cxnLst/>
              <a:rect r="r" b="b" t="t" l="l"/>
              <a:pathLst>
                <a:path h="3519721" w="7239000">
                  <a:moveTo>
                    <a:pt x="254000" y="0"/>
                  </a:moveTo>
                  <a:lnTo>
                    <a:pt x="6985000" y="0"/>
                  </a:lnTo>
                  <a:cubicBezTo>
                    <a:pt x="7125281" y="0"/>
                    <a:pt x="7239000" y="157583"/>
                    <a:pt x="7239000" y="351972"/>
                  </a:cubicBezTo>
                  <a:lnTo>
                    <a:pt x="7239000" y="3167749"/>
                  </a:lnTo>
                  <a:cubicBezTo>
                    <a:pt x="7239000" y="3362138"/>
                    <a:pt x="7125281" y="3519721"/>
                    <a:pt x="6985000" y="3519721"/>
                  </a:cubicBezTo>
                  <a:lnTo>
                    <a:pt x="254000" y="3519721"/>
                  </a:lnTo>
                  <a:cubicBezTo>
                    <a:pt x="113720" y="3519721"/>
                    <a:pt x="0" y="3362138"/>
                    <a:pt x="0" y="3167749"/>
                  </a:cubicBezTo>
                  <a:lnTo>
                    <a:pt x="0" y="351972"/>
                  </a:lnTo>
                  <a:cubicBezTo>
                    <a:pt x="0" y="157583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E2A45"/>
            </a:solidFill>
            <a:ln w="9525" cap="sq">
              <a:solidFill>
                <a:srgbClr val="2A3A5C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239000" cy="355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230100" y="6754495"/>
            <a:ext cx="512445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Desarrollar visualizaciones con insights clave y propuestas efectivas de solución.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30100" y="6219825"/>
            <a:ext cx="45987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E5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97169" y="-4106198"/>
            <a:ext cx="11209693" cy="11289751"/>
            <a:chOff x="0" y="0"/>
            <a:chExt cx="14946257" cy="15053001"/>
          </a:xfrm>
        </p:grpSpPr>
        <p:sp>
          <p:nvSpPr>
            <p:cNvPr name="Freeform 3" id="3"/>
            <p:cNvSpPr/>
            <p:nvPr/>
          </p:nvSpPr>
          <p:spPr>
            <a:xfrm flipH="false" flipV="false" rot="-1330490">
              <a:off x="2607276" y="1614683"/>
              <a:ext cx="10684464" cy="10860955"/>
            </a:xfrm>
            <a:custGeom>
              <a:avLst/>
              <a:gdLst/>
              <a:ahLst/>
              <a:cxnLst/>
              <a:rect r="r" b="b" t="t" l="l"/>
              <a:pathLst>
                <a:path h="10860955" w="10684464">
                  <a:moveTo>
                    <a:pt x="0" y="0"/>
                  </a:moveTo>
                  <a:lnTo>
                    <a:pt x="10684464" y="0"/>
                  </a:lnTo>
                  <a:lnTo>
                    <a:pt x="10684464" y="10860955"/>
                  </a:lnTo>
                  <a:lnTo>
                    <a:pt x="0" y="1086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896216"/>
              <a:ext cx="13891346" cy="14156786"/>
            </a:xfrm>
            <a:custGeom>
              <a:avLst/>
              <a:gdLst/>
              <a:ahLst/>
              <a:cxnLst/>
              <a:rect r="r" b="b" t="t" l="l"/>
              <a:pathLst>
                <a:path h="14156786" w="13891346">
                  <a:moveTo>
                    <a:pt x="0" y="0"/>
                  </a:moveTo>
                  <a:lnTo>
                    <a:pt x="13891346" y="0"/>
                  </a:lnTo>
                  <a:lnTo>
                    <a:pt x="13891346" y="14156785"/>
                  </a:lnTo>
                  <a:lnTo>
                    <a:pt x="0" y="1415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1999"/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924300" y="1352550"/>
            <a:ext cx="10448925" cy="127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27"/>
              </a:lnSpc>
              <a:spcBef>
                <a:spcPct val="0"/>
              </a:spcBef>
            </a:pPr>
            <a:r>
              <a:rPr lang="en-US" b="true" sz="701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METODOLOGIA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33462" y="3179967"/>
            <a:ext cx="16230600" cy="15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221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Para el desarrollo del proyecto TRAYECTORIA se utilizará una metodología tradicional/híbrida, combinando una planificación estructurada de las etapas del proyecto con prácticas iterativas que permitan revisar y mejorar los resultados durante el desarrollo. La metodología estará orientada al análisis de datos y al desarrollo de un modelo predictivo de deserción estudiantil.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7724" y="5321669"/>
            <a:ext cx="1087993" cy="57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9"/>
              </a:lnSpc>
              <a:spcBef>
                <a:spcPct val="0"/>
              </a:spcBef>
            </a:pPr>
            <a:r>
              <a:rPr lang="en-US" sz="341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Roles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5516" y="6550229"/>
            <a:ext cx="7389912" cy="37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221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Benjamín Torres</a:t>
            </a:r>
            <a:r>
              <a:rPr lang="en-US" sz="221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: Líder Técnico / ML Engineer &amp; Backend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5516" y="7579841"/>
            <a:ext cx="9242524" cy="37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221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Denilxon Azua</a:t>
            </a:r>
            <a:r>
              <a:rPr lang="en-US" sz="221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: Frontend Developer / UX &amp; Data Visualization Specialist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7107" y="8504677"/>
            <a:ext cx="9259342" cy="37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221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Juan Rebolledo</a:t>
            </a:r>
            <a:r>
              <a:rPr lang="en-US" sz="221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: Data Engineer / QA Continuo &amp; Project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97169" y="-4106198"/>
            <a:ext cx="11209693" cy="11289751"/>
            <a:chOff x="0" y="0"/>
            <a:chExt cx="14946257" cy="15053001"/>
          </a:xfrm>
        </p:grpSpPr>
        <p:sp>
          <p:nvSpPr>
            <p:cNvPr name="Freeform 3" id="3"/>
            <p:cNvSpPr/>
            <p:nvPr/>
          </p:nvSpPr>
          <p:spPr>
            <a:xfrm flipH="false" flipV="false" rot="-1330490">
              <a:off x="2607276" y="1614683"/>
              <a:ext cx="10684464" cy="10860955"/>
            </a:xfrm>
            <a:custGeom>
              <a:avLst/>
              <a:gdLst/>
              <a:ahLst/>
              <a:cxnLst/>
              <a:rect r="r" b="b" t="t" l="l"/>
              <a:pathLst>
                <a:path h="10860955" w="10684464">
                  <a:moveTo>
                    <a:pt x="0" y="0"/>
                  </a:moveTo>
                  <a:lnTo>
                    <a:pt x="10684464" y="0"/>
                  </a:lnTo>
                  <a:lnTo>
                    <a:pt x="10684464" y="10860955"/>
                  </a:lnTo>
                  <a:lnTo>
                    <a:pt x="0" y="1086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896216"/>
              <a:ext cx="13891346" cy="14156786"/>
            </a:xfrm>
            <a:custGeom>
              <a:avLst/>
              <a:gdLst/>
              <a:ahLst/>
              <a:cxnLst/>
              <a:rect r="r" b="b" t="t" l="l"/>
              <a:pathLst>
                <a:path h="14156786" w="13891346">
                  <a:moveTo>
                    <a:pt x="0" y="0"/>
                  </a:moveTo>
                  <a:lnTo>
                    <a:pt x="13891346" y="0"/>
                  </a:lnTo>
                  <a:lnTo>
                    <a:pt x="13891346" y="14156785"/>
                  </a:lnTo>
                  <a:lnTo>
                    <a:pt x="0" y="1415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1999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47662" y="169560"/>
            <a:ext cx="10168943" cy="9947879"/>
          </a:xfrm>
          <a:custGeom>
            <a:avLst/>
            <a:gdLst/>
            <a:ahLst/>
            <a:cxnLst/>
            <a:rect r="r" b="b" t="t" l="l"/>
            <a:pathLst>
              <a:path h="9947879" w="10168943">
                <a:moveTo>
                  <a:pt x="0" y="0"/>
                </a:moveTo>
                <a:lnTo>
                  <a:pt x="10168943" y="0"/>
                </a:lnTo>
                <a:lnTo>
                  <a:pt x="10168943" y="9947880"/>
                </a:lnTo>
                <a:lnTo>
                  <a:pt x="0" y="9947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148455"/>
            <a:ext cx="6119118" cy="99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30"/>
              </a:lnSpc>
              <a:spcBef>
                <a:spcPct val="0"/>
              </a:spcBef>
            </a:pPr>
            <a:r>
              <a:rPr lang="en-US" b="true" sz="545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Plan de Trabajo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37186" y="-4181177"/>
            <a:ext cx="11209693" cy="11289751"/>
            <a:chOff x="0" y="0"/>
            <a:chExt cx="14946257" cy="15053001"/>
          </a:xfrm>
        </p:grpSpPr>
        <p:sp>
          <p:nvSpPr>
            <p:cNvPr name="Freeform 3" id="3"/>
            <p:cNvSpPr/>
            <p:nvPr/>
          </p:nvSpPr>
          <p:spPr>
            <a:xfrm flipH="false" flipV="false" rot="-1330490">
              <a:off x="2607276" y="1614683"/>
              <a:ext cx="10684464" cy="10860955"/>
            </a:xfrm>
            <a:custGeom>
              <a:avLst/>
              <a:gdLst/>
              <a:ahLst/>
              <a:cxnLst/>
              <a:rect r="r" b="b" t="t" l="l"/>
              <a:pathLst>
                <a:path h="10860955" w="10684464">
                  <a:moveTo>
                    <a:pt x="0" y="0"/>
                  </a:moveTo>
                  <a:lnTo>
                    <a:pt x="10684464" y="0"/>
                  </a:lnTo>
                  <a:lnTo>
                    <a:pt x="10684464" y="10860955"/>
                  </a:lnTo>
                  <a:lnTo>
                    <a:pt x="0" y="1086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896216"/>
              <a:ext cx="13891346" cy="14156786"/>
            </a:xfrm>
            <a:custGeom>
              <a:avLst/>
              <a:gdLst/>
              <a:ahLst/>
              <a:cxnLst/>
              <a:rect r="r" b="b" t="t" l="l"/>
              <a:pathLst>
                <a:path h="14156786" w="13891346">
                  <a:moveTo>
                    <a:pt x="0" y="0"/>
                  </a:moveTo>
                  <a:lnTo>
                    <a:pt x="13891346" y="0"/>
                  </a:lnTo>
                  <a:lnTo>
                    <a:pt x="13891346" y="14156785"/>
                  </a:lnTo>
                  <a:lnTo>
                    <a:pt x="0" y="1415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1999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4909" y="1678021"/>
            <a:ext cx="5490167" cy="3244966"/>
            <a:chOff x="0" y="0"/>
            <a:chExt cx="4826000" cy="28524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6000" cy="2852410"/>
            </a:xfrm>
            <a:custGeom>
              <a:avLst/>
              <a:gdLst/>
              <a:ahLst/>
              <a:cxnLst/>
              <a:rect r="r" b="b" t="t" l="l"/>
              <a:pathLst>
                <a:path h="2852410" w="4826000">
                  <a:moveTo>
                    <a:pt x="228600" y="0"/>
                  </a:moveTo>
                  <a:lnTo>
                    <a:pt x="4597400" y="0"/>
                  </a:lnTo>
                  <a:cubicBezTo>
                    <a:pt x="4723652" y="0"/>
                    <a:pt x="4826000" y="127707"/>
                    <a:pt x="4826000" y="285241"/>
                  </a:cubicBezTo>
                  <a:lnTo>
                    <a:pt x="4826000" y="2567169"/>
                  </a:lnTo>
                  <a:cubicBezTo>
                    <a:pt x="4826000" y="2724704"/>
                    <a:pt x="4723652" y="2852410"/>
                    <a:pt x="4597400" y="2852410"/>
                  </a:cubicBezTo>
                  <a:lnTo>
                    <a:pt x="228600" y="2852410"/>
                  </a:lnTo>
                  <a:cubicBezTo>
                    <a:pt x="102348" y="2852410"/>
                    <a:pt x="0" y="2724704"/>
                    <a:pt x="0" y="2567169"/>
                  </a:cubicBezTo>
                  <a:lnTo>
                    <a:pt x="0" y="285241"/>
                  </a:lnTo>
                  <a:cubicBezTo>
                    <a:pt x="0" y="127707"/>
                    <a:pt x="102348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A1A2E">
                    <a:alpha val="100000"/>
                  </a:srgbClr>
                </a:gs>
                <a:gs pos="100000">
                  <a:srgbClr val="16213E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826000" cy="2880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4909" y="5439845"/>
            <a:ext cx="5490167" cy="3244966"/>
            <a:chOff x="0" y="0"/>
            <a:chExt cx="4826000" cy="28524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6000" cy="2852410"/>
            </a:xfrm>
            <a:custGeom>
              <a:avLst/>
              <a:gdLst/>
              <a:ahLst/>
              <a:cxnLst/>
              <a:rect r="r" b="b" t="t" l="l"/>
              <a:pathLst>
                <a:path h="2852410" w="4826000">
                  <a:moveTo>
                    <a:pt x="228600" y="0"/>
                  </a:moveTo>
                  <a:lnTo>
                    <a:pt x="4597400" y="0"/>
                  </a:lnTo>
                  <a:cubicBezTo>
                    <a:pt x="4723652" y="0"/>
                    <a:pt x="4826000" y="127707"/>
                    <a:pt x="4826000" y="285241"/>
                  </a:cubicBezTo>
                  <a:lnTo>
                    <a:pt x="4826000" y="2567169"/>
                  </a:lnTo>
                  <a:cubicBezTo>
                    <a:pt x="4826000" y="2724704"/>
                    <a:pt x="4723652" y="2852410"/>
                    <a:pt x="4597400" y="2852410"/>
                  </a:cubicBezTo>
                  <a:lnTo>
                    <a:pt x="228600" y="2852410"/>
                  </a:lnTo>
                  <a:cubicBezTo>
                    <a:pt x="102348" y="2852410"/>
                    <a:pt x="0" y="2724704"/>
                    <a:pt x="0" y="2567169"/>
                  </a:cubicBezTo>
                  <a:lnTo>
                    <a:pt x="0" y="285241"/>
                  </a:lnTo>
                  <a:cubicBezTo>
                    <a:pt x="0" y="127707"/>
                    <a:pt x="102348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A1A2E">
                    <a:alpha val="89000"/>
                  </a:srgbClr>
                </a:gs>
                <a:gs pos="100000">
                  <a:srgbClr val="16213E">
                    <a:alpha val="89000"/>
                  </a:srgbClr>
                </a:gs>
              </a:gsLst>
              <a:lin ang="5400000"/>
            </a:gradFill>
            <a:ln w="9525" cap="sq">
              <a:solidFill>
                <a:srgbClr val="00E5FF">
                  <a:alpha val="88627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826000" cy="2880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053623" y="1678021"/>
            <a:ext cx="5490167" cy="3244966"/>
            <a:chOff x="0" y="0"/>
            <a:chExt cx="4826000" cy="28524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26000" cy="2852410"/>
            </a:xfrm>
            <a:custGeom>
              <a:avLst/>
              <a:gdLst/>
              <a:ahLst/>
              <a:cxnLst/>
              <a:rect r="r" b="b" t="t" l="l"/>
              <a:pathLst>
                <a:path h="2852410" w="4826000">
                  <a:moveTo>
                    <a:pt x="228600" y="0"/>
                  </a:moveTo>
                  <a:lnTo>
                    <a:pt x="4597400" y="0"/>
                  </a:lnTo>
                  <a:cubicBezTo>
                    <a:pt x="4723652" y="0"/>
                    <a:pt x="4826000" y="127707"/>
                    <a:pt x="4826000" y="285241"/>
                  </a:cubicBezTo>
                  <a:lnTo>
                    <a:pt x="4826000" y="2567169"/>
                  </a:lnTo>
                  <a:cubicBezTo>
                    <a:pt x="4826000" y="2724704"/>
                    <a:pt x="4723652" y="2852410"/>
                    <a:pt x="4597400" y="2852410"/>
                  </a:cubicBezTo>
                  <a:lnTo>
                    <a:pt x="228600" y="2852410"/>
                  </a:lnTo>
                  <a:cubicBezTo>
                    <a:pt x="102348" y="2852410"/>
                    <a:pt x="0" y="2724704"/>
                    <a:pt x="0" y="2567169"/>
                  </a:cubicBezTo>
                  <a:lnTo>
                    <a:pt x="0" y="285241"/>
                  </a:lnTo>
                  <a:cubicBezTo>
                    <a:pt x="0" y="127707"/>
                    <a:pt x="102348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A1A2E">
                    <a:alpha val="70000"/>
                  </a:srgbClr>
                </a:gs>
                <a:gs pos="100000">
                  <a:srgbClr val="16213E">
                    <a:alpha val="70000"/>
                  </a:srgbClr>
                </a:gs>
              </a:gsLst>
              <a:lin ang="5400000"/>
            </a:gradFill>
            <a:ln w="9525" cap="sq">
              <a:solidFill>
                <a:srgbClr val="00E5FF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826000" cy="2880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91464" y="1678021"/>
            <a:ext cx="5490167" cy="3244966"/>
            <a:chOff x="0" y="0"/>
            <a:chExt cx="4826000" cy="28524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26000" cy="2852410"/>
            </a:xfrm>
            <a:custGeom>
              <a:avLst/>
              <a:gdLst/>
              <a:ahLst/>
              <a:cxnLst/>
              <a:rect r="r" b="b" t="t" l="l"/>
              <a:pathLst>
                <a:path h="2852410" w="4826000">
                  <a:moveTo>
                    <a:pt x="228600" y="0"/>
                  </a:moveTo>
                  <a:lnTo>
                    <a:pt x="4597400" y="0"/>
                  </a:lnTo>
                  <a:cubicBezTo>
                    <a:pt x="4723652" y="0"/>
                    <a:pt x="4826000" y="127707"/>
                    <a:pt x="4826000" y="285241"/>
                  </a:cubicBezTo>
                  <a:lnTo>
                    <a:pt x="4826000" y="2567169"/>
                  </a:lnTo>
                  <a:cubicBezTo>
                    <a:pt x="4826000" y="2724704"/>
                    <a:pt x="4723652" y="2852410"/>
                    <a:pt x="4597400" y="2852410"/>
                  </a:cubicBezTo>
                  <a:lnTo>
                    <a:pt x="228600" y="2852410"/>
                  </a:lnTo>
                  <a:cubicBezTo>
                    <a:pt x="102348" y="2852410"/>
                    <a:pt x="0" y="2724704"/>
                    <a:pt x="0" y="2567169"/>
                  </a:cubicBezTo>
                  <a:lnTo>
                    <a:pt x="0" y="285241"/>
                  </a:lnTo>
                  <a:cubicBezTo>
                    <a:pt x="0" y="127707"/>
                    <a:pt x="102348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A1A2E">
                    <a:alpha val="91000"/>
                  </a:srgbClr>
                </a:gs>
                <a:gs pos="100000">
                  <a:srgbClr val="16213E">
                    <a:alpha val="91000"/>
                  </a:srgbClr>
                </a:gs>
              </a:gsLst>
              <a:lin ang="5400000"/>
            </a:gradFill>
            <a:ln w="9525" cap="sq">
              <a:solidFill>
                <a:srgbClr val="00E5FF">
                  <a:alpha val="90980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26000" cy="2880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72759" y="5439845"/>
            <a:ext cx="5490167" cy="3244966"/>
            <a:chOff x="0" y="0"/>
            <a:chExt cx="4826000" cy="28524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26000" cy="2852410"/>
            </a:xfrm>
            <a:custGeom>
              <a:avLst/>
              <a:gdLst/>
              <a:ahLst/>
              <a:cxnLst/>
              <a:rect r="r" b="b" t="t" l="l"/>
              <a:pathLst>
                <a:path h="2852410" w="4826000">
                  <a:moveTo>
                    <a:pt x="228600" y="0"/>
                  </a:moveTo>
                  <a:lnTo>
                    <a:pt x="4597400" y="0"/>
                  </a:lnTo>
                  <a:cubicBezTo>
                    <a:pt x="4723652" y="0"/>
                    <a:pt x="4826000" y="127707"/>
                    <a:pt x="4826000" y="285241"/>
                  </a:cubicBezTo>
                  <a:lnTo>
                    <a:pt x="4826000" y="2567169"/>
                  </a:lnTo>
                  <a:cubicBezTo>
                    <a:pt x="4826000" y="2724704"/>
                    <a:pt x="4723652" y="2852410"/>
                    <a:pt x="4597400" y="2852410"/>
                  </a:cubicBezTo>
                  <a:lnTo>
                    <a:pt x="228600" y="2852410"/>
                  </a:lnTo>
                  <a:cubicBezTo>
                    <a:pt x="102348" y="2852410"/>
                    <a:pt x="0" y="2724704"/>
                    <a:pt x="0" y="2567169"/>
                  </a:cubicBezTo>
                  <a:lnTo>
                    <a:pt x="0" y="285241"/>
                  </a:lnTo>
                  <a:cubicBezTo>
                    <a:pt x="0" y="127707"/>
                    <a:pt x="102348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A1A2E">
                    <a:alpha val="70000"/>
                  </a:srgbClr>
                </a:gs>
                <a:gs pos="100000">
                  <a:srgbClr val="16213E">
                    <a:alpha val="70000"/>
                  </a:srgbClr>
                </a:gs>
              </a:gsLst>
              <a:lin ang="5400000"/>
            </a:gradFill>
            <a:ln w="9525" cap="sq">
              <a:solidFill>
                <a:srgbClr val="00E5FF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826000" cy="2880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94170" y="5439845"/>
            <a:ext cx="5490167" cy="3244966"/>
            <a:chOff x="0" y="0"/>
            <a:chExt cx="4826000" cy="28524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26000" cy="2852410"/>
            </a:xfrm>
            <a:custGeom>
              <a:avLst/>
              <a:gdLst/>
              <a:ahLst/>
              <a:cxnLst/>
              <a:rect r="r" b="b" t="t" l="l"/>
              <a:pathLst>
                <a:path h="2852410" w="4826000">
                  <a:moveTo>
                    <a:pt x="228600" y="0"/>
                  </a:moveTo>
                  <a:lnTo>
                    <a:pt x="4597400" y="0"/>
                  </a:lnTo>
                  <a:cubicBezTo>
                    <a:pt x="4723652" y="0"/>
                    <a:pt x="4826000" y="127707"/>
                    <a:pt x="4826000" y="285241"/>
                  </a:cubicBezTo>
                  <a:lnTo>
                    <a:pt x="4826000" y="2567169"/>
                  </a:lnTo>
                  <a:cubicBezTo>
                    <a:pt x="4826000" y="2724704"/>
                    <a:pt x="4723652" y="2852410"/>
                    <a:pt x="4597400" y="2852410"/>
                  </a:cubicBezTo>
                  <a:lnTo>
                    <a:pt x="228600" y="2852410"/>
                  </a:lnTo>
                  <a:cubicBezTo>
                    <a:pt x="102348" y="2852410"/>
                    <a:pt x="0" y="2724704"/>
                    <a:pt x="0" y="2567169"/>
                  </a:cubicBezTo>
                  <a:lnTo>
                    <a:pt x="0" y="285241"/>
                  </a:lnTo>
                  <a:cubicBezTo>
                    <a:pt x="0" y="127707"/>
                    <a:pt x="102348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A1A2E">
                    <a:alpha val="70000"/>
                  </a:srgbClr>
                </a:gs>
                <a:gs pos="100000">
                  <a:srgbClr val="16213E">
                    <a:alpha val="70000"/>
                  </a:srgbClr>
                </a:gs>
              </a:gsLst>
              <a:lin ang="5400000"/>
            </a:gradFill>
            <a:ln w="9525" cap="sq">
              <a:solidFill>
                <a:srgbClr val="00E5FF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826000" cy="2880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34909" y="426317"/>
            <a:ext cx="114300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Fases del Plan de Trabajo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6028" y="1865948"/>
            <a:ext cx="4703637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1.</a:t>
            </a:r>
            <a:r>
              <a:rPr lang="en-US" b="true" sz="2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Alcance y Definición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6028" y="2680769"/>
            <a:ext cx="5247928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6F6FF"/>
                </a:solidFill>
                <a:latin typeface="Open Sans 1"/>
                <a:ea typeface="Open Sans 1"/>
                <a:cs typeface="Open Sans 1"/>
                <a:sym typeface="Open Sans 1"/>
              </a:rPr>
              <a:t>Establecer el problema de la deserción estudiantil, objetivos generales y viabilidad operativa en 18 semanas.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6028" y="5627772"/>
            <a:ext cx="4703637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</a:t>
            </a:r>
            <a:r>
              <a:rPr lang="en-US" b="true" sz="2299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.</a:t>
            </a:r>
            <a:r>
              <a:rPr lang="en-US" b="true" sz="2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Preparación de Datos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56028" y="6442593"/>
            <a:ext cx="5247928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6F6FF"/>
                </a:solidFill>
                <a:latin typeface="Open Sans 1"/>
                <a:ea typeface="Open Sans 1"/>
                <a:cs typeface="Open Sans 1"/>
                <a:sym typeface="Open Sans 1"/>
              </a:rPr>
              <a:t>Análisis estadístico profundo de variables, búsqueda de patrones de deserción y visualizaciones previas.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95861" y="1865948"/>
            <a:ext cx="4703637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</a:t>
            </a:r>
            <a:r>
              <a:rPr lang="en-US" b="true" sz="2299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.</a:t>
            </a:r>
            <a:r>
              <a:rPr lang="en-US" b="true" sz="2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Obtención de Datos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74742" y="2680769"/>
            <a:ext cx="5247928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Investigación de fuentes académicas públicas, limpieza inicial y evaluación del dataset del trabajo.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33703" y="1865948"/>
            <a:ext cx="4703637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</a:t>
            </a:r>
            <a:r>
              <a:rPr lang="en-US" b="true" sz="2299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.</a:t>
            </a:r>
            <a:r>
              <a:rPr lang="en-US" b="true" sz="2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Arquitectura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15289" y="2680769"/>
            <a:ext cx="5247928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6F6FF"/>
                </a:solidFill>
                <a:latin typeface="Open Sans 1"/>
                <a:ea typeface="Open Sans 1"/>
                <a:cs typeface="Open Sans 1"/>
                <a:sym typeface="Open Sans 1"/>
              </a:rPr>
              <a:t>Diseño estructural de la solución tecnológica incluyendo componentes Frontend, Backend y Machine Learning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295861" y="5627772"/>
            <a:ext cx="4703637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</a:t>
            </a:r>
            <a:r>
              <a:rPr lang="en-US" b="true" sz="2299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.</a:t>
            </a:r>
            <a:r>
              <a:rPr lang="en-US" b="true" sz="2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Modelo Predictivo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231720" y="5627772"/>
            <a:ext cx="4703637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</a:t>
            </a:r>
            <a:r>
              <a:rPr lang="en-US" b="true" sz="2299">
                <a:solidFill>
                  <a:srgbClr val="00D4A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.</a:t>
            </a:r>
            <a:r>
              <a:rPr lang="en-US" b="true" sz="2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Ejecución y Ajustes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93879" y="6442593"/>
            <a:ext cx="5247928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6F6FF"/>
                </a:solidFill>
                <a:latin typeface="Open Sans 1"/>
                <a:ea typeface="Open Sans 1"/>
                <a:cs typeface="Open Sans 1"/>
                <a:sym typeface="Open Sans 1"/>
              </a:rPr>
              <a:t>Entrenamiento, selección y comparación de algoritmos de Machine Learning para predecir estudiantes en riesgo.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10601" y="6442593"/>
            <a:ext cx="5247928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6F6FF"/>
                </a:solidFill>
                <a:latin typeface="Open Sans 1"/>
                <a:ea typeface="Open Sans 1"/>
                <a:cs typeface="Open Sans 1"/>
                <a:sym typeface="Open Sans 1"/>
              </a:rPr>
              <a:t>Seguimiento continuo de actividades e iteraciones técnicas para asegurar los resultados esperados.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376627" y="1901508"/>
            <a:ext cx="1094036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4FC3F7"/>
                </a:solidFill>
                <a:latin typeface="Open Sans 1"/>
                <a:ea typeface="Open Sans 1"/>
                <a:cs typeface="Open Sans 1"/>
                <a:sym typeface="Open Sans 1"/>
              </a:rPr>
              <a:t>1 Semana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94571" y="1901508"/>
            <a:ext cx="1094036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4FC3F7"/>
                </a:solidFill>
                <a:latin typeface="Open Sans 1"/>
                <a:ea typeface="Open Sans 1"/>
                <a:cs typeface="Open Sans 1"/>
                <a:sym typeface="Open Sans 1"/>
              </a:rPr>
              <a:t>2 Semanas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163135" y="1901508"/>
            <a:ext cx="991195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4FC3F7"/>
                </a:solidFill>
                <a:latin typeface="Open Sans 1"/>
                <a:ea typeface="Open Sans 1"/>
                <a:cs typeface="Open Sans 1"/>
                <a:sym typeface="Open Sans 1"/>
              </a:rPr>
              <a:t>1 Semana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376627" y="5663332"/>
            <a:ext cx="1094036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4FC3F7"/>
                </a:solidFill>
                <a:latin typeface="Open Sans 1"/>
                <a:ea typeface="Open Sans 1"/>
                <a:cs typeface="Open Sans 1"/>
                <a:sym typeface="Open Sans 1"/>
              </a:rPr>
              <a:t>2 Semanas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94571" y="5663332"/>
            <a:ext cx="1094036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4FC3F7"/>
                </a:solidFill>
                <a:latin typeface="Open Sans 1"/>
                <a:ea typeface="Open Sans 1"/>
                <a:cs typeface="Open Sans 1"/>
                <a:sym typeface="Open Sans 1"/>
              </a:rPr>
              <a:t>3 Semanas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545729" y="5663332"/>
            <a:ext cx="1817489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4FC3F7"/>
                </a:solidFill>
                <a:latin typeface="Open Sans 1"/>
                <a:ea typeface="Open Sans 1"/>
                <a:cs typeface="Open Sans 1"/>
                <a:sym typeface="Open Sans 1"/>
              </a:rPr>
              <a:t>Cronograma Total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97169" y="-4106198"/>
            <a:ext cx="11209693" cy="11289751"/>
            <a:chOff x="0" y="0"/>
            <a:chExt cx="14946257" cy="15053001"/>
          </a:xfrm>
        </p:grpSpPr>
        <p:sp>
          <p:nvSpPr>
            <p:cNvPr name="Freeform 3" id="3"/>
            <p:cNvSpPr/>
            <p:nvPr/>
          </p:nvSpPr>
          <p:spPr>
            <a:xfrm flipH="false" flipV="false" rot="-1330490">
              <a:off x="2607276" y="1614683"/>
              <a:ext cx="10684464" cy="10860955"/>
            </a:xfrm>
            <a:custGeom>
              <a:avLst/>
              <a:gdLst/>
              <a:ahLst/>
              <a:cxnLst/>
              <a:rect r="r" b="b" t="t" l="l"/>
              <a:pathLst>
                <a:path h="10860955" w="10684464">
                  <a:moveTo>
                    <a:pt x="0" y="0"/>
                  </a:moveTo>
                  <a:lnTo>
                    <a:pt x="10684464" y="0"/>
                  </a:lnTo>
                  <a:lnTo>
                    <a:pt x="10684464" y="10860955"/>
                  </a:lnTo>
                  <a:lnTo>
                    <a:pt x="0" y="1086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896216"/>
              <a:ext cx="13891346" cy="14156786"/>
            </a:xfrm>
            <a:custGeom>
              <a:avLst/>
              <a:gdLst/>
              <a:ahLst/>
              <a:cxnLst/>
              <a:rect r="r" b="b" t="t" l="l"/>
              <a:pathLst>
                <a:path h="14156786" w="13891346">
                  <a:moveTo>
                    <a:pt x="0" y="0"/>
                  </a:moveTo>
                  <a:lnTo>
                    <a:pt x="13891346" y="0"/>
                  </a:lnTo>
                  <a:lnTo>
                    <a:pt x="13891346" y="14156785"/>
                  </a:lnTo>
                  <a:lnTo>
                    <a:pt x="0" y="1415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1999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13677" y="-205186"/>
            <a:ext cx="14766984" cy="11075238"/>
          </a:xfrm>
          <a:custGeom>
            <a:avLst/>
            <a:gdLst/>
            <a:ahLst/>
            <a:cxnLst/>
            <a:rect r="r" b="b" t="t" l="l"/>
            <a:pathLst>
              <a:path h="11075238" w="14766984">
                <a:moveTo>
                  <a:pt x="0" y="0"/>
                </a:moveTo>
                <a:lnTo>
                  <a:pt x="14766984" y="0"/>
                </a:lnTo>
                <a:lnTo>
                  <a:pt x="14766984" y="11075238"/>
                </a:lnTo>
                <a:lnTo>
                  <a:pt x="0" y="1107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4247846" y="474417"/>
            <a:ext cx="11982450" cy="195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0"/>
              </a:lnSpc>
            </a:pPr>
            <a:r>
              <a:rPr lang="en-US" sz="545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Carta </a:t>
            </a:r>
          </a:p>
          <a:p>
            <a:pPr algn="ctr" marL="0" indent="0" lvl="0">
              <a:lnSpc>
                <a:spcPts val="7630"/>
              </a:lnSpc>
              <a:spcBef>
                <a:spcPct val="0"/>
              </a:spcBef>
            </a:pPr>
            <a:r>
              <a:rPr lang="en-US" b="true" sz="545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Gantt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2E">
                <a:alpha val="100000"/>
              </a:srgbClr>
            </a:gs>
            <a:gs pos="100000">
              <a:srgbClr val="1621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52831" y="2707482"/>
            <a:ext cx="2782338" cy="2782338"/>
          </a:xfrm>
          <a:custGeom>
            <a:avLst/>
            <a:gdLst/>
            <a:ahLst/>
            <a:cxnLst/>
            <a:rect r="r" b="b" t="t" l="l"/>
            <a:pathLst>
              <a:path h="2782338" w="2782338">
                <a:moveTo>
                  <a:pt x="0" y="0"/>
                </a:moveTo>
                <a:lnTo>
                  <a:pt x="2782338" y="0"/>
                </a:lnTo>
                <a:lnTo>
                  <a:pt x="2782338" y="2782337"/>
                </a:lnTo>
                <a:lnTo>
                  <a:pt x="0" y="278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01678" y="5508584"/>
            <a:ext cx="708464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6F6FF"/>
                </a:solidFill>
                <a:latin typeface="TT Fors Bold"/>
                <a:ea typeface="TT Fors Bold"/>
                <a:cs typeface="TT Fors Bold"/>
                <a:sym typeface="TT Fors Bold"/>
              </a:rPr>
              <a:t>GRACIAS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330490">
            <a:off x="-2263295" y="5185442"/>
            <a:ext cx="8013348" cy="8145716"/>
          </a:xfrm>
          <a:custGeom>
            <a:avLst/>
            <a:gdLst/>
            <a:ahLst/>
            <a:cxnLst/>
            <a:rect r="r" b="b" t="t" l="l"/>
            <a:pathLst>
              <a:path h="8145716" w="8013348">
                <a:moveTo>
                  <a:pt x="0" y="0"/>
                </a:moveTo>
                <a:lnTo>
                  <a:pt x="8013348" y="0"/>
                </a:lnTo>
                <a:lnTo>
                  <a:pt x="8013348" y="8145716"/>
                </a:lnTo>
                <a:lnTo>
                  <a:pt x="0" y="8145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297169" y="-4106198"/>
            <a:ext cx="11209693" cy="11289751"/>
            <a:chOff x="0" y="0"/>
            <a:chExt cx="14946257" cy="15053001"/>
          </a:xfrm>
        </p:grpSpPr>
        <p:sp>
          <p:nvSpPr>
            <p:cNvPr name="Freeform 6" id="6"/>
            <p:cNvSpPr/>
            <p:nvPr/>
          </p:nvSpPr>
          <p:spPr>
            <a:xfrm flipH="false" flipV="false" rot="-1330490">
              <a:off x="2607276" y="1614683"/>
              <a:ext cx="10684464" cy="10860955"/>
            </a:xfrm>
            <a:custGeom>
              <a:avLst/>
              <a:gdLst/>
              <a:ahLst/>
              <a:cxnLst/>
              <a:rect r="r" b="b" t="t" l="l"/>
              <a:pathLst>
                <a:path h="10860955" w="10684464">
                  <a:moveTo>
                    <a:pt x="0" y="0"/>
                  </a:moveTo>
                  <a:lnTo>
                    <a:pt x="10684464" y="0"/>
                  </a:lnTo>
                  <a:lnTo>
                    <a:pt x="10684464" y="10860955"/>
                  </a:lnTo>
                  <a:lnTo>
                    <a:pt x="0" y="1086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896216"/>
              <a:ext cx="13891346" cy="14156786"/>
            </a:xfrm>
            <a:custGeom>
              <a:avLst/>
              <a:gdLst/>
              <a:ahLst/>
              <a:cxnLst/>
              <a:rect r="r" b="b" t="t" l="l"/>
              <a:pathLst>
                <a:path h="14156786" w="13891346">
                  <a:moveTo>
                    <a:pt x="0" y="0"/>
                  </a:moveTo>
                  <a:lnTo>
                    <a:pt x="13891346" y="0"/>
                  </a:lnTo>
                  <a:lnTo>
                    <a:pt x="13891346" y="14156785"/>
                  </a:lnTo>
                  <a:lnTo>
                    <a:pt x="0" y="1415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1999"/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DAHTa7mwN2w</dc:identifier>
  <dcterms:modified xsi:type="dcterms:W3CDTF">2011-08-01T06:04:30Z</dcterms:modified>
  <cp:revision>1</cp:revision>
  <dc:title>Proyecto TrayectorIA</dc:title>
</cp:coreProperties>
</file>